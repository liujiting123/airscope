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4f6cb7b79e44be" /><Relationship Type="http://schemas.openxmlformats.org/officeDocument/2006/relationships/extended-properties" Target="/docProps/app.xml" Id="R5eecab2ad2d946f1" /><Relationship Type="http://schemas.openxmlformats.org/officeDocument/2006/relationships/officeDocument" Target="/ppt/presentation.xml" Id="Ra98746e407594d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eb70beb82e44cd"/>
  </p:sldMasterIdLst>
  <p:notesMasterIdLst>
    <p:notesMasterId xmlns:r="http://schemas.openxmlformats.org/officeDocument/2006/relationships" r:id="R11442fce9cc74168"/>
  </p:notesMasterIdLst>
  <p:sldIdLst>
    <p:sldId xmlns:r="http://schemas.openxmlformats.org/officeDocument/2006/relationships" id="256" r:id="R67fc857dea3d4dc9"/>
    <p:sldId xmlns:r="http://schemas.openxmlformats.org/officeDocument/2006/relationships" id="257" r:id="Rde3696a562914948"/>
    <p:sldId xmlns:r="http://schemas.openxmlformats.org/officeDocument/2006/relationships" id="258" r:id="R23a5adb25c374c45"/>
    <p:sldId xmlns:r="http://schemas.openxmlformats.org/officeDocument/2006/relationships" id="259" r:id="R61342b0b171a427c"/>
    <p:sldId xmlns:r="http://schemas.openxmlformats.org/officeDocument/2006/relationships" id="260" r:id="R7ac51db7378c48f6"/>
    <p:sldId xmlns:r="http://schemas.openxmlformats.org/officeDocument/2006/relationships" id="261" r:id="Re2f176a095e34606"/>
    <p:sldId xmlns:r="http://schemas.openxmlformats.org/officeDocument/2006/relationships" id="262" r:id="Rdf912aa9ddd74a18"/>
    <p:sldId xmlns:r="http://schemas.openxmlformats.org/officeDocument/2006/relationships" id="263" r:id="R6a11b28a83e840d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fa6090e220426f" /><Relationship Type="http://schemas.openxmlformats.org/officeDocument/2006/relationships/slideMaster" Target="/ppt/slideMasters/slideMaster1.xml" Id="R4beb70beb82e44cd" /><Relationship Type="http://schemas.openxmlformats.org/officeDocument/2006/relationships/notesMaster" Target="/ppt/notesMasters/notesMaster1.xml" Id="R11442fce9cc74168" /><Relationship Type="http://schemas.openxmlformats.org/officeDocument/2006/relationships/presProps" Target="/ppt/presProps.xml" Id="R209e02a328a046ec" /><Relationship Type="http://schemas.openxmlformats.org/officeDocument/2006/relationships/tableStyles" Target="/ppt/tableStyles.xml" Id="Reac0fec5bd994c96" /><Relationship Type="http://schemas.openxmlformats.org/officeDocument/2006/relationships/slide" Target="/ppt/slides/slide1.xml" Id="R67fc857dea3d4dc9" /><Relationship Type="http://schemas.openxmlformats.org/officeDocument/2006/relationships/slide" Target="/ppt/slides/slide2.xml" Id="Rde3696a562914948" /><Relationship Type="http://schemas.openxmlformats.org/officeDocument/2006/relationships/slide" Target="/ppt/slides/slide3.xml" Id="R23a5adb25c374c45" /><Relationship Type="http://schemas.openxmlformats.org/officeDocument/2006/relationships/slide" Target="/ppt/slides/slide4.xml" Id="R61342b0b171a427c" /><Relationship Type="http://schemas.openxmlformats.org/officeDocument/2006/relationships/slide" Target="/ppt/slides/slide5.xml" Id="R7ac51db7378c48f6" /><Relationship Type="http://schemas.openxmlformats.org/officeDocument/2006/relationships/slide" Target="/ppt/slides/slide6.xml" Id="Re2f176a095e34606" /><Relationship Type="http://schemas.openxmlformats.org/officeDocument/2006/relationships/slide" Target="/ppt/slides/slide7.xml" Id="Rdf912aa9ddd74a18" /><Relationship Type="http://schemas.openxmlformats.org/officeDocument/2006/relationships/slide" Target="/ppt/slides/slide8.xml" Id="R6a11b28a83e840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36a9e0e242241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5f990826e34529" /><Relationship Type="http://schemas.openxmlformats.org/officeDocument/2006/relationships/notesMaster" Target="/ppt/notesMasters/notesMaster1.xml" Id="Re67a629126d74a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0485f3835748a4" /><Relationship Type="http://schemas.openxmlformats.org/officeDocument/2006/relationships/notesMaster" Target="/ppt/notesMasters/notesMaster1.xml" Id="R2066252daab44a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ccc845a36e43f3" /><Relationship Type="http://schemas.openxmlformats.org/officeDocument/2006/relationships/notesMaster" Target="/ppt/notesMasters/notesMaster1.xml" Id="R7a4d1769d9ce4d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133a1a3a1d340f9" /><Relationship Type="http://schemas.openxmlformats.org/officeDocument/2006/relationships/notesMaster" Target="/ppt/notesMasters/notesMaster1.xml" Id="R2cd34df8ed2347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be69bf1dc24f5f" /><Relationship Type="http://schemas.openxmlformats.org/officeDocument/2006/relationships/notesMaster" Target="/ppt/notesMasters/notesMaster1.xml" Id="Rbd55c4cc7ee74f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f0165420b14885" /><Relationship Type="http://schemas.openxmlformats.org/officeDocument/2006/relationships/notesMaster" Target="/ppt/notesMasters/notesMaster1.xml" Id="R5d189385773241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8c457e8e6c4f86" /><Relationship Type="http://schemas.openxmlformats.org/officeDocument/2006/relationships/notesMaster" Target="/ppt/notesMasters/notesMaster1.xml" Id="Rb664e7eb4b044c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2523c903f64942" /><Relationship Type="http://schemas.openxmlformats.org/officeDocument/2006/relationships/notesMaster" Target="/ppt/notesMasters/notesMaster1.xml" Id="R6a1f0c2c91c648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开场用一句话介绍作品：清穹 AirScope 由 DeepSeek Flash 理解问题并发起原生工具调用，本地工具处理空气质量数据、计算统计值并校验结果。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先讲问题来自哪里：原始数据以 CSV 分片保存，统计前要处理日期和缺失值；分析还要分清年均与日均。AirScope 由模型理解用户问题并调度工具，本地服务执行数据处理和统计，过程可以追溯。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作品的关键机制是 DeepSeek 原生 function tool_calls 多轮循环。模型理解自然语言并决定调用哪个工具；工具在本地 Python 服务中执行，observation 返回模型后，模型可继续调用，也可给出最终回答。真实 function 名包括 get_dataset_info、clean_data、get_standard、analyze_air_quality、validate_result 与 render_visualization；analyze_air_quality 通过结构化计划完成城市排名、超标统计、趋势、季节对比和跳变分析。界面通过 NDJSON 显示实际的调用过程和问答。原始数据保留在本地 CSV 与 SQLite，数值由本地工具计算。仅显式使用 --offline 时才启用本地规则备用流程。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沿图讲清楚数据的真实去向：准备脚本逐份处理367个小时CSV；PM2.5、PM10、SO₂、NO₂、CO每日各需至少20个有效小时，O₃按HJ 663构造17个8小时窗口并执行有效性判断；清洗后得到125,172条城市日，写入本地SQLite。DeepSeek 通过原生 function tool_calls 请求本地工具；后续分组、聚合、标准研判与有效分母校验均在本机完成。统计结果作为 observation 返回模型，模型可据此继续调用或组织回答。最终输出SVG与JSON、CSV、HTML。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PM2.5年均35和日均75分开看，二者的平均周期不同。手算只演示分母：三条有效日均值30、40、50，平均40；缺失日不计入分母，这不是数据集统计。原始小时CSV已按指标有效性重算日值：PM2.5、PM10、SO₂、NO₂、CO每日至少20个有效小时；O₃按结束时刻08—24的17个8小时窗口计算，每窗至少6小时，通常至少14个有效窗口；超过O₃日最大8小时二级限值160 μg/m³时按标准例外保留有效。年度判定再要求至少324个有效日并满足逐月门槛。标准原文：生态环境部《GB 3095—2012 环境空气质量标准》官方PDF，第7页表1、第9页表4：https://www.mee.gov.cn/ywgz/fgbz/bz/bzwb/dqhjbh/dqhjzlbz/201203/W020250407403788086276.pdf。这是比赛指定的历史口径。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数据来自中国环境监测总站城市小时数据的Quotsoft公开历史归档，来源页：https://quotsoft.net/air/ ，上游说明见 https://air.cnemc.cn:18007/ 。本页展示2026年10月19日的一次真实 DeepSeek Flash 分析，result.json 记录模型调用总耗时4,880.65毫秒。实际工具顺序为 get_dataset_info → clean_data → analyze_air_quality → validate_result → render_visualization；应用随后保存本轮完整答复。五个城市PM2.5年均值依次为和田地区88.39、喀什60.27、克孜勒苏柯尔克孜自治州53.67、安阳50.53、鹤壁50.27 μg/m³；五地均361/366个有效日，满足年度完整性门槛，按赛事指定GB 3095—2012二级年均限值35 μg/m³均超标。该次统计使用125,172条城市日、342个活跃地区、367份小时源文件。截图来自本次真实模型回答和本地统计图表；AQI依据小时浓度按HJ 633—2012派生，有效120,859条，属于本地派生指标，区别于Quotsoft历史归档展示的审核日AQI。具体重复场景和测试覆盖见 docs/测试证据.md。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HCP规则的六项参考权重依次为：需求思考与完成度20%，Harness过程与系统架构合理性20%，功能测试覆盖率15%，演讲材料质量15%，人员分工合理性10%，系统亮点20%。不要把题目侧重分误说成这六项评分：README另列业务侧重Agent规划与工具调用40%、数据处理与统计30%、可视化20%、代码规范10%。介绍作品亮点时指出DeepSeek通过原生function tool_calls调度，本地工具计算并校验，NDJSON展示实际过程。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答辩控制为5分钟演讲、1分钟质询。演讲依次讲需求与数据、系统架构、DeepSeek原生工具调用、多轮追问和结果页签、核心测试证据与图表、作品亮点。第7页已经包含通用六维权重。质询时优先说明tool_calls循环、统计为什么留在本地、测试范围以及GB 3095—2012作为比赛指定历史口径的原因。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e2c41b33e146f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372311d0094ab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35dfdc5382437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2ca41070654c5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dd136197f4493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56c3f8266546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1145BB6-421E-4C5A-AB62-BB32FA88BE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D05D77F-C5A4-48BD-83D3-3B4B2083E2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1B1ABB0-9945-489D-A6DA-6F59A34762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9FFA013-DB1A-4D93-BE64-25D4280A11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AD31242-9EB6-44C6-BE4E-B9527ACB477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B8A2590-C233-4DC4-89DD-C1C8C10FF9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E5D2540-66A5-4A26-9B5D-6619FD8BFB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90A4BC-FE12-4E4E-8DD1-5854CCBDF8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9417C7D-D3B6-479A-A4FF-3A83ACBF35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14AD51B-2502-42CE-A548-D628B251DA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d85cb1578e47f4" /><Relationship Type="http://schemas.openxmlformats.org/officeDocument/2006/relationships/slideLayout" Target="/ppt/slideLayouts/slideLayout1.xml" Id="R155b693aa4384401" /><Relationship Type="http://schemas.openxmlformats.org/officeDocument/2006/relationships/slideLayout" Target="/ppt/slideLayouts/slideLayout2.xml" Id="R19aefb80d5ad4c73" /><Relationship Type="http://schemas.openxmlformats.org/officeDocument/2006/relationships/slideLayout" Target="/ppt/slideLayouts/slideLayout3.xml" Id="R9d4b8bca80ad40f8" /><Relationship Type="http://schemas.openxmlformats.org/officeDocument/2006/relationships/slideLayout" Target="/ppt/slideLayouts/slideLayout4.xml" Id="R6929a56b93654d0c" /><Relationship Type="http://schemas.openxmlformats.org/officeDocument/2006/relationships/slideLayout" Target="/ppt/slideLayouts/slideLayout5.xml" Id="R55911c4134d14cf1" /><Relationship Type="http://schemas.openxmlformats.org/officeDocument/2006/relationships/slideLayout" Target="/ppt/slideLayouts/slideLayout6.xml" Id="R957261be9a1b43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5b693aa4384401"/>
    <p:sldLayoutId xmlns:r="http://schemas.openxmlformats.org/officeDocument/2006/relationships" id="2147483650" r:id="R19aefb80d5ad4c73"/>
    <p:sldLayoutId xmlns:r="http://schemas.openxmlformats.org/officeDocument/2006/relationships" id="2147483651" r:id="R9d4b8bca80ad40f8"/>
    <p:sldLayoutId xmlns:r="http://schemas.openxmlformats.org/officeDocument/2006/relationships" id="2147483652" r:id="R6929a56b93654d0c"/>
    <p:sldLayoutId xmlns:r="http://schemas.openxmlformats.org/officeDocument/2006/relationships" id="2147483653" r:id="R55911c4134d14cf1"/>
    <p:sldLayoutId xmlns:r="http://schemas.openxmlformats.org/officeDocument/2006/relationships" id="2147483654" r:id="R957261be9a1b43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3c0fd5634e45a4" /><Relationship Type="http://schemas.openxmlformats.org/officeDocument/2006/relationships/notesSlide" Target="/ppt/notesSlides/notesSlide1.xml" Id="R791ad86b2ed245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ac941476e14616" /><Relationship Type="http://schemas.openxmlformats.org/officeDocument/2006/relationships/notesSlide" Target="/ppt/notesSlides/notesSlide2.xml" Id="R684e71943dcb46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cb9bc755b343ce" /><Relationship Type="http://schemas.openxmlformats.org/officeDocument/2006/relationships/notesSlide" Target="/ppt/notesSlides/notesSlide3.xml" Id="Rdbd8ae494c684e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ffcd2a3e094de7" /><Relationship Type="http://schemas.openxmlformats.org/officeDocument/2006/relationships/notesSlide" Target="/ppt/notesSlides/notesSlide4.xml" Id="Re8c22214259049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d80337d91b404d" /><Relationship Type="http://schemas.openxmlformats.org/officeDocument/2006/relationships/notesSlide" Target="/ppt/notesSlides/notesSlide5.xml" Id="R447b8a081d604d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860537bd534713" /><Relationship Type="http://schemas.openxmlformats.org/officeDocument/2006/relationships/image" Target="/ppt/media/image.png" Id="R4fea0bc043f3411e" /><Relationship Type="http://schemas.openxmlformats.org/officeDocument/2006/relationships/notesSlide" Target="/ppt/notesSlides/notesSlide6.xml" Id="R535618af630c4c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6de64c89764cb0" /><Relationship Type="http://schemas.openxmlformats.org/officeDocument/2006/relationships/notesSlide" Target="/ppt/notesSlides/notesSlide7.xml" Id="R1652a52880ff47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82440f3602433e" /><Relationship Type="http://schemas.openxmlformats.org/officeDocument/2006/relationships/notesSlide" Target="/ppt/notesSlides/notesSlide8.xml" Id="Reb124b1a8d754c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ver-brand">
            <a:extLst xmlns:a="http://schemas.openxmlformats.org/drawingml/2006/main">
              <a:ext uri="{FF2B5EF4-FFF2-40B4-BE49-F238E27FC236}">
                <a16:creationId xmlns:a16="http://schemas.microsoft.com/office/drawing/2014/main" id="{88484668-0EC5-4ADB-A71F-9277FB8A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8096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5100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清穹 AirScope</a:t>
            </a:r>
          </a:p>
        </p:txBody>
      </p:sp>
      <p:sp>
        <p:nvSpPr>
          <p:cNvPr id="2" name="cover-description">
            <a:extLst xmlns:a="http://schemas.openxmlformats.org/drawingml/2006/main">
              <a:ext uri="{FF2B5EF4-FFF2-40B4-BE49-F238E27FC236}">
                <a16:creationId xmlns:a16="http://schemas.microsoft.com/office/drawing/2014/main" id="{241F9D09-A18A-4C02-8BA0-41278314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5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5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5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5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5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5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5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5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5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2550" b="0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DeepSeek 驱动的本地空气质量分析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2FEE2350-4E54-486A-8FDD-4DF9721D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1200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purpose">
            <a:extLst xmlns:a="http://schemas.openxmlformats.org/drawingml/2006/main">
              <a:ext uri="{FF2B5EF4-FFF2-40B4-BE49-F238E27FC236}">
                <a16:creationId xmlns:a16="http://schemas.microsoft.com/office/drawing/2014/main" id="{60FAEFE1-2643-44C3-A60B-FDDC0F1B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529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大数据课堂比赛 / 作品答辩</a:t>
            </a:r>
          </a:p>
        </p:txBody>
      </p:sp>
      <p:sp>
        <p:nvSpPr>
          <p:cNvPr id="5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B32A06D2-4EE2-4D5E-B6CF-C68C8D8D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672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模型负责调度，本地工具计算与核验</a:t>
            </a:r>
          </a:p>
        </p:txBody>
      </p:sp>
    </p:spTree>
    <p:extLst>
      <p:ext uri="{BB962C8B-B14F-4D97-AF65-F5344CB8AC3E}">
        <p14:creationId xmlns:p14="http://schemas.microsoft.com/office/powerpoint/2010/main" val="3391256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B132B832-A5E9-4BBE-B29B-3DD6D395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06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作品解决的问题</a:t>
            </a:r>
          </a:p>
        </p:txBody>
      </p:sp>
      <p:sp>
        <p:nvSpPr>
          <p:cNvPr id="2" name="slide-2-accent">
            <a:extLst xmlns:a="http://schemas.openxmlformats.org/drawingml/2006/main">
              <a:ext uri="{FF2B5EF4-FFF2-40B4-BE49-F238E27FC236}">
                <a16:creationId xmlns:a16="http://schemas.microsoft.com/office/drawing/2014/main" id="{55C72AE3-81A1-4759-8C21-3E3E6774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57300"/>
            <a:ext cx="666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roblem-01-num">
            <a:extLst xmlns:a="http://schemas.openxmlformats.org/drawingml/2006/main">
              <a:ext uri="{FF2B5EF4-FFF2-40B4-BE49-F238E27FC236}">
                <a16:creationId xmlns:a16="http://schemas.microsoft.com/office/drawing/2014/main" id="{A026391B-7FCB-47F5-981B-FEEAE8A9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647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4" name="problem-01-head">
            <a:extLst xmlns:a="http://schemas.openxmlformats.org/drawingml/2006/main">
              <a:ext uri="{FF2B5EF4-FFF2-40B4-BE49-F238E27FC236}">
                <a16:creationId xmlns:a16="http://schemas.microsoft.com/office/drawing/2014/main" id="{D33BB718-3377-461D-B5E9-1031E2F8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7526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多份 CSV</a:t>
            </a:r>
          </a:p>
        </p:txBody>
      </p:sp>
      <p:sp>
        <p:nvSpPr>
          <p:cNvPr id="5" name="problem-01-desc">
            <a:extLst xmlns:a="http://schemas.openxmlformats.org/drawingml/2006/main">
              <a:ext uri="{FF2B5EF4-FFF2-40B4-BE49-F238E27FC236}">
                <a16:creationId xmlns:a16="http://schemas.microsoft.com/office/drawing/2014/main" id="{89D8BFCC-FA28-4404-9832-A2A1218E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288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读取、清洗和合并要重复处理</a:t>
            </a:r>
          </a:p>
        </p:txBody>
      </p:sp>
      <p:sp>
        <p:nvSpPr>
          <p:cNvPr id="6" name="problem-01-rule">
            <a:extLst xmlns:a="http://schemas.openxmlformats.org/drawingml/2006/main">
              <a:ext uri="{FF2B5EF4-FFF2-40B4-BE49-F238E27FC236}">
                <a16:creationId xmlns:a16="http://schemas.microsoft.com/office/drawing/2014/main" id="{ECE419F3-EDD1-430C-B5E1-15B888E8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52725"/>
            <a:ext cx="4591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02-num">
            <a:extLst xmlns:a="http://schemas.openxmlformats.org/drawingml/2006/main">
              <a:ext uri="{FF2B5EF4-FFF2-40B4-BE49-F238E27FC236}">
                <a16:creationId xmlns:a16="http://schemas.microsoft.com/office/drawing/2014/main" id="{D6619E59-705B-4743-8F26-DFAEA90D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647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8" name="problem-02-head">
            <a:extLst xmlns:a="http://schemas.openxmlformats.org/drawingml/2006/main">
              <a:ext uri="{FF2B5EF4-FFF2-40B4-BE49-F238E27FC236}">
                <a16:creationId xmlns:a16="http://schemas.microsoft.com/office/drawing/2014/main" id="{832AE073-53FE-4FE2-A078-C5662C81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051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指标口径</a:t>
            </a:r>
          </a:p>
        </p:txBody>
      </p:sp>
      <p:sp>
        <p:nvSpPr>
          <p:cNvPr id="9" name="problem-02-desc">
            <a:extLst xmlns:a="http://schemas.openxmlformats.org/drawingml/2006/main">
              <a:ext uri="{FF2B5EF4-FFF2-40B4-BE49-F238E27FC236}">
                <a16:creationId xmlns:a16="http://schemas.microsoft.com/office/drawing/2014/main" id="{D08E1757-1C6B-4738-AAC9-D12534EE2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5814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年均与日均的判断标准不能混用</a:t>
            </a:r>
          </a:p>
        </p:txBody>
      </p:sp>
      <p:sp>
        <p:nvSpPr>
          <p:cNvPr id="10" name="problem-02-rule">
            <a:extLst xmlns:a="http://schemas.openxmlformats.org/drawingml/2006/main">
              <a:ext uri="{FF2B5EF4-FFF2-40B4-BE49-F238E27FC236}">
                <a16:creationId xmlns:a16="http://schemas.microsoft.com/office/drawing/2014/main" id="{E88702A0-D896-4D58-ABB3-ACB56A5B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05275"/>
            <a:ext cx="4591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roblem-03-num">
            <a:extLst xmlns:a="http://schemas.openxmlformats.org/drawingml/2006/main">
              <a:ext uri="{FF2B5EF4-FFF2-40B4-BE49-F238E27FC236}">
                <a16:creationId xmlns:a16="http://schemas.microsoft.com/office/drawing/2014/main" id="{ACCD1DFF-CB05-41CD-8C96-96AD28EB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647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problem-03-head">
            <a:extLst xmlns:a="http://schemas.openxmlformats.org/drawingml/2006/main">
              <a:ext uri="{FF2B5EF4-FFF2-40B4-BE49-F238E27FC236}">
                <a16:creationId xmlns:a16="http://schemas.microsoft.com/office/drawing/2014/main" id="{7BEA2037-91B9-417B-A9B4-617F30A6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577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追问复核</a:t>
            </a:r>
          </a:p>
        </p:txBody>
      </p:sp>
      <p:sp>
        <p:nvSpPr>
          <p:cNvPr id="13" name="problem-03-desc">
            <a:extLst xmlns:a="http://schemas.openxmlformats.org/drawingml/2006/main">
              <a:ext uri="{FF2B5EF4-FFF2-40B4-BE49-F238E27FC236}">
                <a16:creationId xmlns:a16="http://schemas.microsoft.com/office/drawing/2014/main" id="{061DC180-24A6-4397-B2B9-36B6A26B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9339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后续筛选要沿用条件，也要看得到依据</a:t>
            </a:r>
          </a:p>
        </p:txBody>
      </p:sp>
      <p:sp>
        <p:nvSpPr>
          <p:cNvPr id="14" name="problem-03-rule">
            <a:extLst xmlns:a="http://schemas.openxmlformats.org/drawingml/2006/main">
              <a:ext uri="{FF2B5EF4-FFF2-40B4-BE49-F238E27FC236}">
                <a16:creationId xmlns:a16="http://schemas.microsoft.com/office/drawing/2014/main" id="{057B596D-783E-4F3A-9431-16523A74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57825"/>
            <a:ext cx="4591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osition-block">
            <a:extLst xmlns:a="http://schemas.openxmlformats.org/drawingml/2006/main">
              <a:ext uri="{FF2B5EF4-FFF2-40B4-BE49-F238E27FC236}">
                <a16:creationId xmlns:a16="http://schemas.microsoft.com/office/drawing/2014/main" id="{9A2ADF3C-67C3-4CB2-9E55-60173A5E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847850"/>
            <a:ext cx="4171950" cy="3562350"/>
          </a:xfrm>
          <a:prstGeom xmlns:a="http://schemas.openxmlformats.org/drawingml/2006/main" prst="roundRect">
            <a:avLst>
              <a:gd name="adj" fmla="val 4813"/>
            </a:avLst>
          </a:prstGeom>
          <a:solidFill xmlns:a="http://schemas.openxmlformats.org/drawingml/2006/main">
            <a:srgbClr val="153D3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osition-kicker">
            <a:extLst xmlns:a="http://schemas.openxmlformats.org/drawingml/2006/main">
              <a:ext uri="{FF2B5EF4-FFF2-40B4-BE49-F238E27FC236}">
                <a16:creationId xmlns:a16="http://schemas.microsoft.com/office/drawing/2014/main" id="{F74AE818-70DA-476B-A1F3-AC3B9F6E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098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作品定位</a:t>
            </a:r>
          </a:p>
        </p:txBody>
      </p:sp>
      <p:sp>
        <p:nvSpPr>
          <p:cNvPr id="17" name="position-main">
            <a:extLst xmlns:a="http://schemas.openxmlformats.org/drawingml/2006/main">
              <a:ext uri="{FF2B5EF4-FFF2-40B4-BE49-F238E27FC236}">
                <a16:creationId xmlns:a16="http://schemas.microsoft.com/office/drawing/2014/main" id="{01E82BD6-E382-4AA9-B778-444C19D7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43200"/>
            <a:ext cx="33337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把自然语言问题</a:t>
            </a:r>
          </a:p>
          <a:p xmlns:a="http://schemas.openxmlformats.org/drawingml/2006/main">
            <a:pPr algn="l">
              <a:def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2625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转成可追溯的工具流程</a:t>
            </a:r>
          </a:p>
        </p:txBody>
      </p:sp>
      <p:sp>
        <p:nvSpPr>
          <p:cNvPr id="18" name="position-detail">
            <a:extLst xmlns:a="http://schemas.openxmlformats.org/drawingml/2006/main">
              <a:ext uri="{FF2B5EF4-FFF2-40B4-BE49-F238E27FC236}">
                <a16:creationId xmlns:a16="http://schemas.microsoft.com/office/drawing/2014/main" id="{FCB11F9E-251E-403F-A7A7-A9885304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71950"/>
            <a:ext cx="3276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模型发起工具调用，本机返回统计表、图表与执行记录。</a:t>
            </a:r>
          </a:p>
        </p:txBody>
      </p:sp>
    </p:spTree>
    <p:extLst>
      <p:ext uri="{BB962C8B-B14F-4D97-AF65-F5344CB8AC3E}">
        <p14:creationId xmlns:p14="http://schemas.microsoft.com/office/powerpoint/2010/main" val="10493108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2" name="background">
            <a:extLst xmlns:a="http://schemas.openxmlformats.org/drawingml/2006/main">
              <a:ext uri="{FF2B5EF4-FFF2-40B4-BE49-F238E27FC236}">
                <a16:creationId xmlns:a16="http://schemas.microsoft.com/office/drawing/2014/main" id="{94CB0D79-24C0-4D40-99DC-F4FBBB8E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7AB835E-1129-4E58-A64D-B96B5985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模型决策与本地执行的 ReAct 回路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7644B9A0-0C6E-4141-BE1B-E590287C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19200"/>
            <a:ext cx="6286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E6B0400-6EA3-4A13-8319-13ADA6BD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19225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工具请求与结果反馈构成闭环，数值计算始终由本地工具完成。</a:t>
            </a:r>
          </a:p>
        </p:txBody>
      </p:sp>
      <p:sp>
        <p:nvSpPr>
          <p:cNvPr id="5" name="panel-a">
            <a:extLst xmlns:a="http://schemas.openxmlformats.org/drawingml/2006/main">
              <a:ext uri="{FF2B5EF4-FFF2-40B4-BE49-F238E27FC236}">
                <a16:creationId xmlns:a16="http://schemas.microsoft.com/office/drawing/2014/main" id="{440A42BA-06AF-4B81-8F35-170520EC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9547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(a)  任务与会话</a:t>
            </a:r>
          </a:p>
        </p:txBody>
      </p:sp>
      <p:sp>
        <p:nvSpPr>
          <p:cNvPr id="6" name="panel-b">
            <a:extLst xmlns:a="http://schemas.openxmlformats.org/drawingml/2006/main">
              <a:ext uri="{FF2B5EF4-FFF2-40B4-BE49-F238E27FC236}">
                <a16:creationId xmlns:a16="http://schemas.microsoft.com/office/drawing/2014/main" id="{D2EFCD37-7655-494A-A0A6-3EE29095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95475"/>
            <a:ext cx="3286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(b)  模型决策</a:t>
            </a:r>
          </a:p>
        </p:txBody>
      </p:sp>
      <p:sp>
        <p:nvSpPr>
          <p:cNvPr id="7" name="panel-c">
            <a:extLst xmlns:a="http://schemas.openxmlformats.org/drawingml/2006/main">
              <a:ext uri="{FF2B5EF4-FFF2-40B4-BE49-F238E27FC236}">
                <a16:creationId xmlns:a16="http://schemas.microsoft.com/office/drawing/2014/main" id="{3FD97BC8-D2E2-4052-9933-3516C588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95475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(c)  本地工具</a:t>
            </a:r>
          </a:p>
        </p:txBody>
      </p:sp>
      <p:sp>
        <p:nvSpPr>
          <p:cNvPr id="8" name="query-document-back">
            <a:extLst xmlns:a="http://schemas.openxmlformats.org/drawingml/2006/main">
              <a:ext uri="{FF2B5EF4-FFF2-40B4-BE49-F238E27FC236}">
                <a16:creationId xmlns:a16="http://schemas.microsoft.com/office/drawing/2014/main" id="{2305F8BF-6A3D-40CE-A39B-FBA4B297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2209800" cy="104775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0F4EF"/>
          </a:solidFill>
          <a:ln xmlns:a="http://schemas.openxmlformats.org/drawingml/2006/main" w="9525">
            <a:solidFill>
              <a:srgbClr val="CBD7D1"/>
            </a:solidFill>
            <a:prstDash val="solid"/>
          </a:ln>
        </p:spPr>
      </p:sp>
      <p:sp>
        <p:nvSpPr>
          <p:cNvPr id="9" name="query-document">
            <a:extLst xmlns:a="http://schemas.openxmlformats.org/drawingml/2006/main">
              <a:ext uri="{FF2B5EF4-FFF2-40B4-BE49-F238E27FC236}">
                <a16:creationId xmlns:a16="http://schemas.microsoft.com/office/drawing/2014/main" id="{6EF16AB3-DD57-4E52-93BE-7E3CAB3C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24100"/>
            <a:ext cx="2209800" cy="104775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3335">
            <a:solidFill>
              <a:srgbClr val="CBD7D1"/>
            </a:solidFill>
            <a:prstDash val="solid"/>
          </a:ln>
        </p:spPr>
      </p:sp>
      <p:sp>
        <p:nvSpPr>
          <p:cNvPr id="10" name="query-symbol">
            <a:extLst xmlns:a="http://schemas.openxmlformats.org/drawingml/2006/main">
              <a:ext uri="{FF2B5EF4-FFF2-40B4-BE49-F238E27FC236}">
                <a16:creationId xmlns:a16="http://schemas.microsoft.com/office/drawing/2014/main" id="{5014B7EB-E77B-47F1-BBF9-AF682EAC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419350"/>
            <a:ext cx="285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11" name="query-heading">
            <a:extLst xmlns:a="http://schemas.openxmlformats.org/drawingml/2006/main">
              <a:ext uri="{FF2B5EF4-FFF2-40B4-BE49-F238E27FC236}">
                <a16:creationId xmlns:a16="http://schemas.microsoft.com/office/drawing/2014/main" id="{61BB585A-DB73-41CC-B647-F568B50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438400"/>
            <a:ext cx="1562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自然语言问题</a:t>
            </a:r>
          </a:p>
        </p:txBody>
      </p:sp>
      <p:sp>
        <p:nvSpPr>
          <p:cNvPr id="12" name="query-example">
            <a:extLst xmlns:a="http://schemas.openxmlformats.org/drawingml/2006/main">
              <a:ext uri="{FF2B5EF4-FFF2-40B4-BE49-F238E27FC236}">
                <a16:creationId xmlns:a16="http://schemas.microsoft.com/office/drawing/2014/main" id="{14CD40A9-C131-4300-85F9-3FF7E1E3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71775"/>
            <a:ext cx="19240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2024 年 PM2.5 Top 5</a:t>
            </a:r>
          </a:p>
          <a:p xmlns:a="http://schemas.openxmlformats.org/drawingml/2006/main">
            <a:pPr algn="l">
              <a:def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绘制月度变化曲线</a:t>
            </a:r>
          </a:p>
        </p:txBody>
      </p:sp>
      <p:sp>
        <p:nvSpPr>
          <p:cNvPr id="13" name="query-to-model">
            <a:extLst xmlns:a="http://schemas.openxmlformats.org/drawingml/2006/main">
              <a:ext uri="{FF2B5EF4-FFF2-40B4-BE49-F238E27FC236}">
                <a16:creationId xmlns:a16="http://schemas.microsoft.com/office/drawing/2014/main" id="{72AA9B3D-800F-44E4-A87B-E2BF4EB4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19400"/>
            <a:ext cx="857250" cy="9525"/>
          </a:xfrm>
          <a:custGeom xmlns:a="http://schemas.openxmlformats.org/drawingml/2006/main">
            <a:pathLst>
              <a:path w="857250" h="9525">
                <a:moveTo>
                  <a:pt x="0" y="0"/>
                </a:moveTo>
                <a:lnTo>
                  <a:pt x="857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83958C"/>
            </a:solidFill>
            <a:prstDash val="solid"/>
          </a:ln>
        </p:spPr>
      </p:sp>
      <p:sp>
        <p:nvSpPr>
          <p:cNvPr id="14" name="query-to-model-arrow">
            <a:extLst xmlns:a="http://schemas.openxmlformats.org/drawingml/2006/main">
              <a:ext uri="{FF2B5EF4-FFF2-40B4-BE49-F238E27FC236}">
                <a16:creationId xmlns:a16="http://schemas.microsoft.com/office/drawing/2014/main" id="{CDC0E3F3-75A3-42D4-85F5-AE1C24A6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86634"/>
            <a:ext cx="76200" cy="65532"/>
          </a:xfrm>
          <a:custGeom xmlns:a="http://schemas.openxmlformats.org/drawingml/2006/main">
            <a:pathLst>
              <a:path w="76200" h="65532">
                <a:moveTo>
                  <a:pt x="76200" y="32766"/>
                </a:moveTo>
                <a:lnTo>
                  <a:pt x="0" y="6553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83958C"/>
          </a:solidFill>
          <a:ln xmlns:a="http://schemas.openxmlformats.org/drawingml/2006/main" w="4763">
            <a:solidFill>
              <a:srgbClr val="83958C"/>
            </a:solidFill>
            <a:prstDash val="solid"/>
          </a:ln>
        </p:spPr>
      </p:sp>
      <p:sp>
        <p:nvSpPr>
          <p:cNvPr id="15" name="memory-sheet-back">
            <a:extLst xmlns:a="http://schemas.openxmlformats.org/drawingml/2006/main">
              <a:ext uri="{FF2B5EF4-FFF2-40B4-BE49-F238E27FC236}">
                <a16:creationId xmlns:a16="http://schemas.microsoft.com/office/drawing/2014/main" id="{06A27977-876F-4845-8A59-9A783FDB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24275"/>
            <a:ext cx="2000250" cy="762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FF3EE"/>
          </a:solidFill>
          <a:ln xmlns:a="http://schemas.openxmlformats.org/drawingml/2006/main" w="9525">
            <a:solidFill>
              <a:srgbClr val="CBD7D1"/>
            </a:solidFill>
            <a:prstDash val="solid"/>
          </a:ln>
        </p:spPr>
      </p:sp>
      <p:sp>
        <p:nvSpPr>
          <p:cNvPr id="16" name="memory-sheet-front">
            <a:extLst xmlns:a="http://schemas.openxmlformats.org/drawingml/2006/main">
              <a:ext uri="{FF2B5EF4-FFF2-40B4-BE49-F238E27FC236}">
                <a16:creationId xmlns:a16="http://schemas.microsoft.com/office/drawing/2014/main" id="{81C5652B-FF87-485D-A96F-D4961558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638550"/>
            <a:ext cx="2000250" cy="762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2383">
            <a:solidFill>
              <a:srgbClr val="CBD7D1"/>
            </a:solidFill>
            <a:prstDash val="solid"/>
          </a:ln>
        </p:spPr>
      </p:sp>
      <p:sp>
        <p:nvSpPr>
          <p:cNvPr id="17" name="memory-symbol">
            <a:extLst xmlns:a="http://schemas.openxmlformats.org/drawingml/2006/main">
              <a:ext uri="{FF2B5EF4-FFF2-40B4-BE49-F238E27FC236}">
                <a16:creationId xmlns:a16="http://schemas.microsoft.com/office/drawing/2014/main" id="{6650B7DD-0F9A-4305-8F00-B71C02B0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defPPr>
            <a:lvl1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1pPr>
            <a:lvl2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2pPr>
            <a:lvl3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3pPr>
            <a:lvl4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4pPr>
            <a:lvl5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5pPr>
            <a:lvl6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6pPr>
            <a:lvl7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7pPr>
            <a:lvl8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8pPr>
            <a:lvl9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l">
              <a:def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rPr>
              <a:t>Hₜ</a:t>
            </a:r>
          </a:p>
        </p:txBody>
      </p:sp>
      <p:sp>
        <p:nvSpPr>
          <p:cNvPr id="18" name="memory-heading">
            <a:extLst xmlns:a="http://schemas.openxmlformats.org/drawingml/2006/main">
              <a:ext uri="{FF2B5EF4-FFF2-40B4-BE49-F238E27FC236}">
                <a16:creationId xmlns:a16="http://schemas.microsoft.com/office/drawing/2014/main" id="{B5068168-E32B-447F-A73E-32DBE660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52850"/>
            <a:ext cx="1200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会话上下文</a:t>
            </a:r>
          </a:p>
        </p:txBody>
      </p:sp>
      <p:sp>
        <p:nvSpPr>
          <p:cNvPr id="19" name="memory-content">
            <a:extLst xmlns:a="http://schemas.openxmlformats.org/drawingml/2006/main">
              <a:ext uri="{FF2B5EF4-FFF2-40B4-BE49-F238E27FC236}">
                <a16:creationId xmlns:a16="http://schemas.microsoft.com/office/drawing/2014/main" id="{E22E8037-AE64-42E2-BF29-BDFBBB2C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86225"/>
            <a:ext cx="1743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历史问答 · 工具结果</a:t>
            </a:r>
          </a:p>
        </p:txBody>
      </p:sp>
      <p:sp>
        <p:nvSpPr>
          <p:cNvPr id="20" name="history-to-model">
            <a:extLst xmlns:a="http://schemas.openxmlformats.org/drawingml/2006/main">
              <a:ext uri="{FF2B5EF4-FFF2-40B4-BE49-F238E27FC236}">
                <a16:creationId xmlns:a16="http://schemas.microsoft.com/office/drawing/2014/main" id="{E5225F75-DDF1-4A3D-AAC8-718D876A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276600"/>
            <a:ext cx="962025" cy="742950"/>
          </a:xfrm>
          <a:custGeom xmlns:a="http://schemas.openxmlformats.org/drawingml/2006/main">
            <a:pathLst>
              <a:path w="962025" h="742950">
                <a:moveTo>
                  <a:pt x="0" y="742950"/>
                </a:moveTo>
                <a:lnTo>
                  <a:pt x="304800" y="742950"/>
                </a:lnTo>
                <a:lnTo>
                  <a:pt x="304800" y="0"/>
                </a:lnTo>
                <a:lnTo>
                  <a:pt x="962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83958C"/>
            </a:solidFill>
            <a:prstDash val="solid"/>
          </a:ln>
        </p:spPr>
      </p:sp>
      <p:sp>
        <p:nvSpPr>
          <p:cNvPr id="21" name="history-to-model-arrow">
            <a:extLst xmlns:a="http://schemas.openxmlformats.org/drawingml/2006/main">
              <a:ext uri="{FF2B5EF4-FFF2-40B4-BE49-F238E27FC236}">
                <a16:creationId xmlns:a16="http://schemas.microsoft.com/office/drawing/2014/main" id="{28E93F48-282D-4D9E-BD2D-A80BA052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243834"/>
            <a:ext cx="76200" cy="65532"/>
          </a:xfrm>
          <a:custGeom xmlns:a="http://schemas.openxmlformats.org/drawingml/2006/main">
            <a:pathLst>
              <a:path w="76200" h="65532">
                <a:moveTo>
                  <a:pt x="76200" y="32766"/>
                </a:moveTo>
                <a:lnTo>
                  <a:pt x="0" y="6553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83958C"/>
          </a:solidFill>
          <a:ln xmlns:a="http://schemas.openxmlformats.org/drawingml/2006/main" w="4763">
            <a:solidFill>
              <a:srgbClr val="83958C"/>
            </a:solidFill>
            <a:prstDash val="solid"/>
          </a:ln>
        </p:spPr>
      </p:sp>
      <p:sp>
        <p:nvSpPr>
          <p:cNvPr id="22" name="model-frame">
            <a:extLst xmlns:a="http://schemas.openxmlformats.org/drawingml/2006/main">
              <a:ext uri="{FF2B5EF4-FFF2-40B4-BE49-F238E27FC236}">
                <a16:creationId xmlns:a16="http://schemas.microsoft.com/office/drawing/2014/main" id="{054190EB-2978-48E2-8E42-403AC88C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24100"/>
            <a:ext cx="3286125" cy="1638300"/>
          </a:xfrm>
          <a:prstGeom xmlns:a="http://schemas.openxmlformats.org/drawingml/2006/main" prst="roundRect">
            <a:avLst>
              <a:gd name="adj" fmla="val 5233"/>
            </a:avLst>
          </a:prstGeom>
          <a:solidFill xmlns:a="http://schemas.openxmlformats.org/drawingml/2006/main">
            <a:srgbClr val="E9F4EF"/>
          </a:solidFill>
          <a:ln xmlns:a="http://schemas.openxmlformats.org/drawingml/2006/main" w="17145">
            <a:solidFill>
              <a:srgbClr val="7BB4A2"/>
            </a:solidFill>
            <a:prstDash val="solid"/>
          </a:ln>
        </p:spPr>
      </p:sp>
      <p:sp>
        <p:nvSpPr>
          <p:cNvPr id="23" name="model-top-rule">
            <a:extLst xmlns:a="http://schemas.openxmlformats.org/drawingml/2006/main">
              <a:ext uri="{FF2B5EF4-FFF2-40B4-BE49-F238E27FC236}">
                <a16:creationId xmlns:a16="http://schemas.microsoft.com/office/drawing/2014/main" id="{5BA38512-3386-439F-91DA-D19BA49B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333625"/>
            <a:ext cx="32670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model-name">
            <a:extLst xmlns:a="http://schemas.openxmlformats.org/drawingml/2006/main">
              <a:ext uri="{FF2B5EF4-FFF2-40B4-BE49-F238E27FC236}">
                <a16:creationId xmlns:a16="http://schemas.microsoft.com/office/drawing/2014/main" id="{E020C2AA-2EC1-476E-A42D-35B08C4D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95550"/>
            <a:ext cx="28670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i="0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rPr>
              <a:t>DeepSeek Flash</a:t>
            </a:r>
          </a:p>
        </p:txBody>
      </p:sp>
      <p:sp>
        <p:nvSpPr>
          <p:cNvPr id="25" name="model-operation">
            <a:extLst xmlns:a="http://schemas.openxmlformats.org/drawingml/2006/main">
              <a:ext uri="{FF2B5EF4-FFF2-40B4-BE49-F238E27FC236}">
                <a16:creationId xmlns:a16="http://schemas.microsoft.com/office/drawing/2014/main" id="{96C93C64-8A14-45F4-A46C-99CC6945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933700"/>
            <a:ext cx="28860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读取上下文 · 决定下一步</a:t>
            </a:r>
          </a:p>
        </p:txBody>
      </p:sp>
      <p:sp>
        <p:nvSpPr>
          <p:cNvPr id="26" name="state-q">
            <a:extLst xmlns:a="http://schemas.openxmlformats.org/drawingml/2006/main">
              <a:ext uri="{FF2B5EF4-FFF2-40B4-BE49-F238E27FC236}">
                <a16:creationId xmlns:a16="http://schemas.microsoft.com/office/drawing/2014/main" id="{55A0CCC1-2348-4D2F-9504-01932FD0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90900"/>
            <a:ext cx="5715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A4CABC"/>
            </a:solidFill>
            <a:prstDash val="solid"/>
          </a:ln>
        </p:spPr>
      </p:sp>
      <p:sp>
        <p:nvSpPr>
          <p:cNvPr id="27" name="state-label-q">
            <a:extLst xmlns:a="http://schemas.openxmlformats.org/drawingml/2006/main">
              <a:ext uri="{FF2B5EF4-FFF2-40B4-BE49-F238E27FC236}">
                <a16:creationId xmlns:a16="http://schemas.microsoft.com/office/drawing/2014/main" id="{F698DBB6-4BBF-4261-A7BD-F2D0AD66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042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28" name="state-Hₜ">
            <a:extLst xmlns:a="http://schemas.openxmlformats.org/drawingml/2006/main">
              <a:ext uri="{FF2B5EF4-FFF2-40B4-BE49-F238E27FC236}">
                <a16:creationId xmlns:a16="http://schemas.microsoft.com/office/drawing/2014/main" id="{0A0FC8EA-D2FF-400A-AFF5-007D7A90B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390900"/>
            <a:ext cx="8001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A4CABC"/>
            </a:solidFill>
            <a:prstDash val="solid"/>
          </a:ln>
        </p:spPr>
      </p:sp>
      <p:sp>
        <p:nvSpPr>
          <p:cNvPr id="29" name="state-label-Hₜ">
            <a:extLst xmlns:a="http://schemas.openxmlformats.org/drawingml/2006/main">
              <a:ext uri="{FF2B5EF4-FFF2-40B4-BE49-F238E27FC236}">
                <a16:creationId xmlns:a16="http://schemas.microsoft.com/office/drawing/2014/main" id="{86461F79-7266-42E0-91FD-B2B0F01D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400425"/>
            <a:ext cx="80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rPr>
              <a:t>Hₜ</a:t>
            </a:r>
          </a:p>
        </p:txBody>
      </p:sp>
      <p:sp>
        <p:nvSpPr>
          <p:cNvPr id="30" name="state-oₜ">
            <a:extLst xmlns:a="http://schemas.openxmlformats.org/drawingml/2006/main">
              <a:ext uri="{FF2B5EF4-FFF2-40B4-BE49-F238E27FC236}">
                <a16:creationId xmlns:a16="http://schemas.microsoft.com/office/drawing/2014/main" id="{237FC925-CDB1-4236-9150-40946B0C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390900"/>
            <a:ext cx="5715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A4CABC"/>
            </a:solidFill>
            <a:prstDash val="solid"/>
          </a:ln>
        </p:spPr>
      </p:sp>
      <p:sp>
        <p:nvSpPr>
          <p:cNvPr id="31" name="state-label-oₜ">
            <a:extLst xmlns:a="http://schemas.openxmlformats.org/drawingml/2006/main">
              <a:ext uri="{FF2B5EF4-FFF2-40B4-BE49-F238E27FC236}">
                <a16:creationId xmlns:a16="http://schemas.microsoft.com/office/drawing/2014/main" id="{8F63EC33-4CEF-4A79-85A4-5B2D3C82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0042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 i="1">
                <a:solidFill>
                  <a:srgbClr val="173E35"/>
                </a:solidFill>
                <a:latin typeface="Times New Roman"/>
                <a:ea typeface="Times New Roman"/>
                <a:cs typeface="Times New Roman"/>
              </a:rPr>
              <a:t>oₜ</a:t>
            </a:r>
          </a:p>
        </p:txBody>
      </p:sp>
      <p:sp>
        <p:nvSpPr>
          <p:cNvPr id="32" name="state-plus1">
            <a:extLst xmlns:a="http://schemas.openxmlformats.org/drawingml/2006/main">
              <a:ext uri="{FF2B5EF4-FFF2-40B4-BE49-F238E27FC236}">
                <a16:creationId xmlns:a16="http://schemas.microsoft.com/office/drawing/2014/main" id="{A2C49DC8-9C8C-404F-AF8D-2FE4AC04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29000"/>
            <a:ext cx="161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33" name="state-plus2">
            <a:extLst xmlns:a="http://schemas.openxmlformats.org/drawingml/2006/main">
              <a:ext uri="{FF2B5EF4-FFF2-40B4-BE49-F238E27FC236}">
                <a16:creationId xmlns:a16="http://schemas.microsoft.com/office/drawing/2014/main" id="{27686E20-76AB-49A5-812C-11B0EBEF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429000"/>
            <a:ext cx="161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 i="0">
                <a:solidFill>
                  <a:srgbClr val="60776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34" name="action-to-tools">
            <a:extLst xmlns:a="http://schemas.openxmlformats.org/drawingml/2006/main">
              <a:ext uri="{FF2B5EF4-FFF2-40B4-BE49-F238E27FC236}">
                <a16:creationId xmlns:a16="http://schemas.microsoft.com/office/drawing/2014/main" id="{446DD994-C371-4085-88CB-E16ECDD7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52725"/>
            <a:ext cx="1114425" cy="9525"/>
          </a:xfrm>
          <a:custGeom xmlns:a="http://schemas.openxmlformats.org/drawingml/2006/main">
            <a:pathLst>
              <a:path w="1114425" h="9525">
                <a:moveTo>
                  <a:pt x="0" y="0"/>
                </a:moveTo>
                <a:lnTo>
                  <a:pt x="1114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168574"/>
            </a:solidFill>
            <a:prstDash val="solid"/>
          </a:ln>
        </p:spPr>
      </p:sp>
      <p:sp>
        <p:nvSpPr>
          <p:cNvPr id="35" name="action-to-tools-arrow">
            <a:extLst xmlns:a="http://schemas.openxmlformats.org/drawingml/2006/main">
              <a:ext uri="{FF2B5EF4-FFF2-40B4-BE49-F238E27FC236}">
                <a16:creationId xmlns:a16="http://schemas.microsoft.com/office/drawing/2014/main" id="{C159E789-841C-46C6-AD01-517F42F8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19959"/>
            <a:ext cx="76200" cy="65532"/>
          </a:xfrm>
          <a:custGeom xmlns:a="http://schemas.openxmlformats.org/drawingml/2006/main">
            <a:pathLst>
              <a:path w="76200" h="65532">
                <a:moveTo>
                  <a:pt x="76200" y="32766"/>
                </a:moveTo>
                <a:lnTo>
                  <a:pt x="0" y="6553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68574"/>
          </a:solidFill>
          <a:ln xmlns:a="http://schemas.openxmlformats.org/drawingml/2006/main" w="4763">
            <a:solidFill>
              <a:srgbClr val="168574"/>
            </a:solidFill>
            <a:prstDash val="solid"/>
          </a:ln>
        </p:spPr>
      </p:sp>
      <p:sp>
        <p:nvSpPr>
          <p:cNvPr id="36" name="action-symbol">
            <a:extLst xmlns:a="http://schemas.openxmlformats.org/drawingml/2006/main">
              <a:ext uri="{FF2B5EF4-FFF2-40B4-BE49-F238E27FC236}">
                <a16:creationId xmlns:a16="http://schemas.microsoft.com/office/drawing/2014/main" id="{12139944-65F0-452A-BC85-0BDF9D1D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52675"/>
            <a:ext cx="71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0" i="1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rPr>
              <a:t>aₜ</a:t>
            </a:r>
          </a:p>
        </p:txBody>
      </p:sp>
      <p:sp>
        <p:nvSpPr>
          <p:cNvPr id="37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D30BF4AA-245A-442A-998E-B31C8CF5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905125"/>
            <a:ext cx="1000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工具 + 参数</a:t>
            </a:r>
          </a:p>
        </p:txBody>
      </p:sp>
      <p:sp>
        <p:nvSpPr>
          <p:cNvPr id="38" name="tool-registry">
            <a:extLst xmlns:a="http://schemas.openxmlformats.org/drawingml/2006/main">
              <a:ext uri="{FF2B5EF4-FFF2-40B4-BE49-F238E27FC236}">
                <a16:creationId xmlns:a16="http://schemas.microsoft.com/office/drawing/2014/main" id="{6E91FD34-E703-4A7C-9A8F-7F7177FD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57425"/>
            <a:ext cx="3371850" cy="2390775"/>
          </a:xfrm>
          <a:prstGeom xmlns:a="http://schemas.openxmlformats.org/drawingml/2006/main" prst="roundRect">
            <a:avLst>
              <a:gd name="adj" fmla="val 2789"/>
            </a:avLst>
          </a:prstGeom>
          <a:solidFill xmlns:a="http://schemas.openxmlformats.org/drawingml/2006/main">
            <a:srgbClr val="F5F7F3"/>
          </a:solidFill>
          <a:ln xmlns:a="http://schemas.openxmlformats.org/drawingml/2006/main" w="11430">
            <a:solidFill>
              <a:srgbClr val="D5DED7"/>
            </a:solidFill>
            <a:prstDash val="solid"/>
          </a:ln>
        </p:spPr>
      </p:sp>
      <p:sp>
        <p:nvSpPr>
          <p:cNvPr id="39" name="tool-catalog">
            <a:extLst xmlns:a="http://schemas.openxmlformats.org/drawingml/2006/main">
              <a:ext uri="{FF2B5EF4-FFF2-40B4-BE49-F238E27FC236}">
                <a16:creationId xmlns:a16="http://schemas.microsoft.com/office/drawing/2014/main" id="{3D7DD6DA-7035-4EF8-893D-1FBD8F768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71725"/>
            <a:ext cx="14668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DE5DF"/>
            </a:solidFill>
            <a:prstDash val="solid"/>
          </a:ln>
        </p:spPr>
      </p:sp>
      <p:sp>
        <p:nvSpPr>
          <p:cNvPr id="40" name="tool-icon-catalog-page">
            <a:extLst xmlns:a="http://schemas.openxmlformats.org/drawingml/2006/main">
              <a:ext uri="{FF2B5EF4-FFF2-40B4-BE49-F238E27FC236}">
                <a16:creationId xmlns:a16="http://schemas.microsoft.com/office/drawing/2014/main" id="{42CECF44-9CC7-4323-9AA1-91DD1A51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33650"/>
            <a:ext cx="219075" cy="266700"/>
          </a:xfrm>
          <a:prstGeom xmlns:a="http://schemas.openxmlformats.org/drawingml/2006/main" prst="roundRect">
            <a:avLst>
              <a:gd name="adj" fmla="val 8696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60776F"/>
            </a:solidFill>
            <a:prstDash val="solid"/>
          </a:ln>
        </p:spPr>
      </p:sp>
      <p:sp>
        <p:nvSpPr>
          <p:cNvPr id="41" name="tool-icon-catalog-row1">
            <a:extLst xmlns:a="http://schemas.openxmlformats.org/drawingml/2006/main">
              <a:ext uri="{FF2B5EF4-FFF2-40B4-BE49-F238E27FC236}">
                <a16:creationId xmlns:a16="http://schemas.microsoft.com/office/drawing/2014/main" id="{F2D52837-D94C-4741-8C1C-0ABEC550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09850"/>
            <a:ext cx="123825" cy="9525"/>
          </a:xfrm>
          <a:custGeom xmlns:a="http://schemas.openxmlformats.org/drawingml/2006/main">
            <a:pathLst>
              <a:path w="123825" h="9525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42" name="tool-icon-catalog-row2">
            <a:extLst xmlns:a="http://schemas.openxmlformats.org/drawingml/2006/main">
              <a:ext uri="{FF2B5EF4-FFF2-40B4-BE49-F238E27FC236}">
                <a16:creationId xmlns:a16="http://schemas.microsoft.com/office/drawing/2014/main" id="{E73D0AB3-F30E-48ED-BB9E-1CB9DC8A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67000"/>
            <a:ext cx="123825" cy="9525"/>
          </a:xfrm>
          <a:custGeom xmlns:a="http://schemas.openxmlformats.org/drawingml/2006/main">
            <a:pathLst>
              <a:path w="123825" h="9525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43" name="tool-icon-catalog-row3">
            <a:extLst xmlns:a="http://schemas.openxmlformats.org/drawingml/2006/main">
              <a:ext uri="{FF2B5EF4-FFF2-40B4-BE49-F238E27FC236}">
                <a16:creationId xmlns:a16="http://schemas.microsoft.com/office/drawing/2014/main" id="{5F976DBE-1C7A-4758-BF40-CEE2473B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724150"/>
            <a:ext cx="85725" cy="9525"/>
          </a:xfrm>
          <a:custGeom xmlns:a="http://schemas.openxmlformats.org/drawingml/2006/main">
            <a:pathLst>
              <a:path w="85725" h="9525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44" name="tool-title-catalog">
            <a:extLst xmlns:a="http://schemas.openxmlformats.org/drawingml/2006/main">
              <a:ext uri="{FF2B5EF4-FFF2-40B4-BE49-F238E27FC236}">
                <a16:creationId xmlns:a16="http://schemas.microsoft.com/office/drawing/2014/main" id="{49431EAD-4EB3-4B7F-81CA-EBAB5285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574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读取目录</a:t>
            </a:r>
          </a:p>
        </p:txBody>
      </p:sp>
      <p:sp>
        <p:nvSpPr>
          <p:cNvPr id="45" name="tool-subtitle-catalog">
            <a:extLst xmlns:a="http://schemas.openxmlformats.org/drawingml/2006/main">
              <a:ext uri="{FF2B5EF4-FFF2-40B4-BE49-F238E27FC236}">
                <a16:creationId xmlns:a16="http://schemas.microsoft.com/office/drawing/2014/main" id="{D1BAAC8C-FE15-406A-88EC-6676B770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1462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城市 / 年份</a:t>
            </a:r>
          </a:p>
        </p:txBody>
      </p:sp>
      <p:sp>
        <p:nvSpPr>
          <p:cNvPr id="46" name="tool-clean">
            <a:extLst xmlns:a="http://schemas.openxmlformats.org/drawingml/2006/main">
              <a:ext uri="{FF2B5EF4-FFF2-40B4-BE49-F238E27FC236}">
                <a16:creationId xmlns:a16="http://schemas.microsoft.com/office/drawing/2014/main" id="{D8C1E106-311A-49B6-8045-26A47AC5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371725"/>
            <a:ext cx="14668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DE5DF"/>
            </a:solidFill>
            <a:prstDash val="solid"/>
          </a:ln>
        </p:spPr>
      </p:sp>
      <p:sp>
        <p:nvSpPr>
          <p:cNvPr id="47" name="tool-icon-clean-filter">
            <a:extLst xmlns:a="http://schemas.openxmlformats.org/drawingml/2006/main">
              <a:ext uri="{FF2B5EF4-FFF2-40B4-BE49-F238E27FC236}">
                <a16:creationId xmlns:a16="http://schemas.microsoft.com/office/drawing/2014/main" id="{162211AD-08EC-4B58-B06C-565DC6F6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552700"/>
            <a:ext cx="266700" cy="228600"/>
          </a:xfrm>
          <a:custGeom xmlns:a="http://schemas.openxmlformats.org/drawingml/2006/main">
            <a:pathLst>
              <a:path w="266700" h="228600">
                <a:moveTo>
                  <a:pt x="0" y="0"/>
                </a:moveTo>
                <a:lnTo>
                  <a:pt x="266700" y="0"/>
                </a:lnTo>
                <a:lnTo>
                  <a:pt x="161925" y="104775"/>
                </a:lnTo>
                <a:lnTo>
                  <a:pt x="161925" y="228600"/>
                </a:lnTo>
                <a:lnTo>
                  <a:pt x="104775" y="200025"/>
                </a:lnTo>
                <a:lnTo>
                  <a:pt x="104775" y="1047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48" name="tool-title-clean">
            <a:extLst xmlns:a="http://schemas.openxmlformats.org/drawingml/2006/main">
              <a:ext uri="{FF2B5EF4-FFF2-40B4-BE49-F238E27FC236}">
                <a16:creationId xmlns:a16="http://schemas.microsoft.com/office/drawing/2014/main" id="{5A95DB20-D659-4DA0-A306-25C5F8E9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4574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数据清洗</a:t>
            </a:r>
          </a:p>
        </p:txBody>
      </p:sp>
      <p:sp>
        <p:nvSpPr>
          <p:cNvPr id="49" name="tool-subtitle-clean">
            <a:extLst xmlns:a="http://schemas.openxmlformats.org/drawingml/2006/main">
              <a:ext uri="{FF2B5EF4-FFF2-40B4-BE49-F238E27FC236}">
                <a16:creationId xmlns:a16="http://schemas.microsoft.com/office/drawing/2014/main" id="{8E7E3EF3-8806-4A5D-B9AB-A2779A57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71462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缺失 / 去重</a:t>
            </a:r>
          </a:p>
        </p:txBody>
      </p:sp>
      <p:sp>
        <p:nvSpPr>
          <p:cNvPr id="50" name="tool-standard">
            <a:extLst xmlns:a="http://schemas.openxmlformats.org/drawingml/2006/main">
              <a:ext uri="{FF2B5EF4-FFF2-40B4-BE49-F238E27FC236}">
                <a16:creationId xmlns:a16="http://schemas.microsoft.com/office/drawing/2014/main" id="{E652F926-04E2-4C0F-9DA5-C19E5023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14675"/>
            <a:ext cx="14668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DE5DF"/>
            </a:solidFill>
            <a:prstDash val="solid"/>
          </a:ln>
        </p:spPr>
      </p:sp>
      <p:sp>
        <p:nvSpPr>
          <p:cNvPr id="51" name="tool-icon-standard-book">
            <a:extLst xmlns:a="http://schemas.openxmlformats.org/drawingml/2006/main">
              <a:ext uri="{FF2B5EF4-FFF2-40B4-BE49-F238E27FC236}">
                <a16:creationId xmlns:a16="http://schemas.microsoft.com/office/drawing/2014/main" id="{0466B742-B1EF-424D-895A-3D6570EB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3286125"/>
            <a:ext cx="238125" cy="257175"/>
          </a:xfrm>
          <a:prstGeom xmlns:a="http://schemas.openxmlformats.org/drawingml/2006/main" prst="roundRect">
            <a:avLst>
              <a:gd name="adj" fmla="val 8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60776F"/>
            </a:solidFill>
            <a:prstDash val="solid"/>
          </a:ln>
        </p:spPr>
      </p:sp>
      <p:sp>
        <p:nvSpPr>
          <p:cNvPr id="52" name="tool-icon-standard-spine">
            <a:extLst xmlns:a="http://schemas.openxmlformats.org/drawingml/2006/main">
              <a:ext uri="{FF2B5EF4-FFF2-40B4-BE49-F238E27FC236}">
                <a16:creationId xmlns:a16="http://schemas.microsoft.com/office/drawing/2014/main" id="{0F5930A9-BD3C-440F-BEE5-68E38677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286125"/>
            <a:ext cx="9525" cy="257175"/>
          </a:xfrm>
          <a:custGeom xmlns:a="http://schemas.openxmlformats.org/drawingml/2006/main">
            <a:pathLst>
              <a:path w="9525" h="257175">
                <a:moveTo>
                  <a:pt x="0" y="0"/>
                </a:moveTo>
                <a:lnTo>
                  <a:pt x="0" y="257175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53" name="tool-icon-standard-rules">
            <a:extLst xmlns:a="http://schemas.openxmlformats.org/drawingml/2006/main">
              <a:ext uri="{FF2B5EF4-FFF2-40B4-BE49-F238E27FC236}">
                <a16:creationId xmlns:a16="http://schemas.microsoft.com/office/drawing/2014/main" id="{4E6B42E2-62D3-460D-8E58-E6C2614F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62325"/>
            <a:ext cx="85725" cy="9525"/>
          </a:xfrm>
          <a:custGeom xmlns:a="http://schemas.openxmlformats.org/drawingml/2006/main">
            <a:pathLst>
              <a:path w="85725" h="9525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54" name="tool-icon-standard-rules2">
            <a:extLst xmlns:a="http://schemas.openxmlformats.org/drawingml/2006/main">
              <a:ext uri="{FF2B5EF4-FFF2-40B4-BE49-F238E27FC236}">
                <a16:creationId xmlns:a16="http://schemas.microsoft.com/office/drawing/2014/main" id="{FA2E0DC3-53E3-402A-8F1B-6AB11A7A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29000"/>
            <a:ext cx="85725" cy="9525"/>
          </a:xfrm>
          <a:custGeom xmlns:a="http://schemas.openxmlformats.org/drawingml/2006/main">
            <a:pathLst>
              <a:path w="85725" h="9525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55" name="tool-title-standard">
            <a:extLst xmlns:a="http://schemas.openxmlformats.org/drawingml/2006/main">
              <a:ext uri="{FF2B5EF4-FFF2-40B4-BE49-F238E27FC236}">
                <a16:creationId xmlns:a16="http://schemas.microsoft.com/office/drawing/2014/main" id="{2B8E2C83-B093-4C64-B10B-F5C6EFC8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004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国标查询</a:t>
            </a:r>
          </a:p>
        </p:txBody>
      </p:sp>
      <p:sp>
        <p:nvSpPr>
          <p:cNvPr id="56" name="tool-subtitle-standard">
            <a:extLst xmlns:a="http://schemas.openxmlformats.org/drawingml/2006/main">
              <a:ext uri="{FF2B5EF4-FFF2-40B4-BE49-F238E27FC236}">
                <a16:creationId xmlns:a16="http://schemas.microsoft.com/office/drawing/2014/main" id="{31B493A8-713C-4B9E-A172-6784873A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5757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指标 / 周期</a:t>
            </a:r>
          </a:p>
        </p:txBody>
      </p:sp>
      <p:sp>
        <p:nvSpPr>
          <p:cNvPr id="57" name="tool-stats">
            <a:extLst xmlns:a="http://schemas.openxmlformats.org/drawingml/2006/main">
              <a:ext uri="{FF2B5EF4-FFF2-40B4-BE49-F238E27FC236}">
                <a16:creationId xmlns:a16="http://schemas.microsoft.com/office/drawing/2014/main" id="{92EAF0C5-EDD8-405F-BA72-A2AC4DFA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14675"/>
            <a:ext cx="14668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DE5DF"/>
            </a:solidFill>
            <a:prstDash val="solid"/>
          </a:ln>
        </p:spPr>
      </p:sp>
      <p:sp>
        <p:nvSpPr>
          <p:cNvPr id="58" name="tool-icon-stats-sigma">
            <a:extLst xmlns:a="http://schemas.openxmlformats.org/drawingml/2006/main">
              <a:ext uri="{FF2B5EF4-FFF2-40B4-BE49-F238E27FC236}">
                <a16:creationId xmlns:a16="http://schemas.microsoft.com/office/drawing/2014/main" id="{DD9EB50C-45F2-45EF-A1E3-464EFE0A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219450"/>
            <a:ext cx="295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0" i="0">
                <a:solidFill>
                  <a:srgbClr val="168574"/>
                </a:solidFill>
                <a:latin typeface="Times New Roman"/>
                <a:ea typeface="Times New Roman"/>
                <a:cs typeface="Times New Roman"/>
              </a:rPr>
              <a:t>Σ</a:t>
            </a:r>
          </a:p>
        </p:txBody>
      </p:sp>
      <p:sp>
        <p:nvSpPr>
          <p:cNvPr id="59" name="tool-title-stats">
            <a:extLst xmlns:a="http://schemas.openxmlformats.org/drawingml/2006/main">
              <a:ext uri="{FF2B5EF4-FFF2-40B4-BE49-F238E27FC236}">
                <a16:creationId xmlns:a16="http://schemas.microsoft.com/office/drawing/2014/main" id="{40B519E4-79AF-44A0-880A-8AD49F1F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2004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聚合统计</a:t>
            </a:r>
          </a:p>
        </p:txBody>
      </p:sp>
      <p:sp>
        <p:nvSpPr>
          <p:cNvPr id="60" name="tool-subtitle-stats">
            <a:extLst xmlns:a="http://schemas.openxmlformats.org/drawingml/2006/main">
              <a:ext uri="{FF2B5EF4-FFF2-40B4-BE49-F238E27FC236}">
                <a16:creationId xmlns:a16="http://schemas.microsoft.com/office/drawing/2014/main" id="{98D610AE-FBF5-4ED6-8CFE-2AE990D5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45757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分组 / 计数</a:t>
            </a:r>
          </a:p>
        </p:txBody>
      </p:sp>
      <p:sp>
        <p:nvSpPr>
          <p:cNvPr id="61" name="tool-check">
            <a:extLst xmlns:a="http://schemas.openxmlformats.org/drawingml/2006/main">
              <a:ext uri="{FF2B5EF4-FFF2-40B4-BE49-F238E27FC236}">
                <a16:creationId xmlns:a16="http://schemas.microsoft.com/office/drawing/2014/main" id="{96D7FC0D-7079-420F-9C8C-29A50330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57625"/>
            <a:ext cx="14668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DE5DF"/>
            </a:solidFill>
            <a:prstDash val="solid"/>
          </a:ln>
        </p:spPr>
      </p:sp>
      <p:sp>
        <p:nvSpPr>
          <p:cNvPr id="62" name="tool-icon-check-circle">
            <a:extLst xmlns:a="http://schemas.openxmlformats.org/drawingml/2006/main">
              <a:ext uri="{FF2B5EF4-FFF2-40B4-BE49-F238E27FC236}">
                <a16:creationId xmlns:a16="http://schemas.microsoft.com/office/drawing/2014/main" id="{676DD155-1A89-4E7B-86B2-37054230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19550"/>
            <a:ext cx="266700" cy="2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60776F"/>
            </a:solidFill>
            <a:prstDash val="solid"/>
          </a:ln>
        </p:spPr>
      </p:sp>
      <p:sp>
        <p:nvSpPr>
          <p:cNvPr id="63" name="tool-icon-check-check">
            <a:extLst xmlns:a="http://schemas.openxmlformats.org/drawingml/2006/main">
              <a:ext uri="{FF2B5EF4-FFF2-40B4-BE49-F238E27FC236}">
                <a16:creationId xmlns:a16="http://schemas.microsoft.com/office/drawing/2014/main" id="{69242D0B-D120-4B4B-B792-95F518C2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95750"/>
            <a:ext cx="152400" cy="104775"/>
          </a:xfrm>
          <a:custGeom xmlns:a="http://schemas.openxmlformats.org/drawingml/2006/main">
            <a:pathLst>
              <a:path w="152400" h="104775">
                <a:moveTo>
                  <a:pt x="0" y="57150"/>
                </a:moveTo>
                <a:lnTo>
                  <a:pt x="47625" y="104775"/>
                </a:lnTo>
                <a:lnTo>
                  <a:pt x="152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64" name="tool-title-check">
            <a:extLst xmlns:a="http://schemas.openxmlformats.org/drawingml/2006/main">
              <a:ext uri="{FF2B5EF4-FFF2-40B4-BE49-F238E27FC236}">
                <a16:creationId xmlns:a16="http://schemas.microsoft.com/office/drawing/2014/main" id="{71FFE578-AA48-4C9D-A0E2-05D9768E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9433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结果校验</a:t>
            </a:r>
          </a:p>
        </p:txBody>
      </p:sp>
      <p:sp>
        <p:nvSpPr>
          <p:cNvPr id="65" name="tool-subtitle-check">
            <a:extLst xmlns:a="http://schemas.openxmlformats.org/drawingml/2006/main">
              <a:ext uri="{FF2B5EF4-FFF2-40B4-BE49-F238E27FC236}">
                <a16:creationId xmlns:a16="http://schemas.microsoft.com/office/drawing/2014/main" id="{8DE41D40-A508-4D67-88E1-32701002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20052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数值 / 分母</a:t>
            </a:r>
          </a:p>
        </p:txBody>
      </p:sp>
      <p:sp>
        <p:nvSpPr>
          <p:cNvPr id="66" name="tool-chart">
            <a:extLst xmlns:a="http://schemas.openxmlformats.org/drawingml/2006/main">
              <a:ext uri="{FF2B5EF4-FFF2-40B4-BE49-F238E27FC236}">
                <a16:creationId xmlns:a16="http://schemas.microsoft.com/office/drawing/2014/main" id="{5E1B622D-9601-4586-AB03-3F4D7808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57625"/>
            <a:ext cx="1466850" cy="6286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DDE5DF"/>
            </a:solidFill>
            <a:prstDash val="solid"/>
          </a:ln>
        </p:spPr>
      </p:sp>
      <p:sp>
        <p:nvSpPr>
          <p:cNvPr id="67" name="tool-icon-chart-axis">
            <a:extLst xmlns:a="http://schemas.openxmlformats.org/drawingml/2006/main">
              <a:ext uri="{FF2B5EF4-FFF2-40B4-BE49-F238E27FC236}">
                <a16:creationId xmlns:a16="http://schemas.microsoft.com/office/drawing/2014/main" id="{ABD97440-E1E6-49F9-BE66-24C877DD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029075"/>
            <a:ext cx="266700" cy="247650"/>
          </a:xfrm>
          <a:custGeom xmlns:a="http://schemas.openxmlformats.org/drawingml/2006/main">
            <a:pathLst>
              <a:path w="266700" h="247650">
                <a:moveTo>
                  <a:pt x="0" y="0"/>
                </a:moveTo>
                <a:lnTo>
                  <a:pt x="0" y="247650"/>
                </a:lnTo>
                <a:lnTo>
                  <a:pt x="266700" y="2476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68" name="tool-icon-chart-plot">
            <a:extLst xmlns:a="http://schemas.openxmlformats.org/drawingml/2006/main">
              <a:ext uri="{FF2B5EF4-FFF2-40B4-BE49-F238E27FC236}">
                <a16:creationId xmlns:a16="http://schemas.microsoft.com/office/drawing/2014/main" id="{1119DADC-2843-45ED-A23F-521A8AAE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057650"/>
            <a:ext cx="209550" cy="152400"/>
          </a:xfrm>
          <a:custGeom xmlns:a="http://schemas.openxmlformats.org/drawingml/2006/main">
            <a:pathLst>
              <a:path w="209550" h="152400">
                <a:moveTo>
                  <a:pt x="0" y="152400"/>
                </a:moveTo>
                <a:lnTo>
                  <a:pt x="66675" y="57150"/>
                </a:lnTo>
                <a:lnTo>
                  <a:pt x="133350" y="104775"/>
                </a:ln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0776F"/>
            </a:solidFill>
            <a:prstDash val="solid"/>
          </a:ln>
        </p:spPr>
      </p:sp>
      <p:sp>
        <p:nvSpPr>
          <p:cNvPr id="69" name="tool-title-chart">
            <a:extLst xmlns:a="http://schemas.openxmlformats.org/drawingml/2006/main">
              <a:ext uri="{FF2B5EF4-FFF2-40B4-BE49-F238E27FC236}">
                <a16:creationId xmlns:a16="http://schemas.microsoft.com/office/drawing/2014/main" id="{1D93943B-42EE-4188-997D-7D0AC874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9433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绘图导出</a:t>
            </a:r>
          </a:p>
        </p:txBody>
      </p:sp>
      <p:sp>
        <p:nvSpPr>
          <p:cNvPr id="70" name="tool-subtitle-chart">
            <a:extLst xmlns:a="http://schemas.openxmlformats.org/drawingml/2006/main">
              <a:ext uri="{FF2B5EF4-FFF2-40B4-BE49-F238E27FC236}">
                <a16:creationId xmlns:a16="http://schemas.microsoft.com/office/drawing/2014/main" id="{5EA0A5E6-B1E9-4B57-921A-CDC0B04F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200525"/>
            <a:ext cx="9715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SVG / 报告</a:t>
            </a:r>
          </a:p>
        </p:txBody>
      </p:sp>
      <p:sp>
        <p:nvSpPr>
          <p:cNvPr id="71" name="observation">
            <a:extLst xmlns:a="http://schemas.openxmlformats.org/drawingml/2006/main">
              <a:ext uri="{FF2B5EF4-FFF2-40B4-BE49-F238E27FC236}">
                <a16:creationId xmlns:a16="http://schemas.microsoft.com/office/drawing/2014/main" id="{F3782126-7192-49C2-9338-4AC3AC70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05350"/>
            <a:ext cx="3286125" cy="914400"/>
          </a:xfrm>
          <a:prstGeom xmlns:a="http://schemas.openxmlformats.org/drawingml/2006/main" prst="roundRect">
            <a:avLst>
              <a:gd name="adj" fmla="val 7292"/>
            </a:avLst>
          </a:prstGeom>
          <a:solidFill xmlns:a="http://schemas.openxmlformats.org/drawingml/2006/main">
            <a:srgbClr val="EDF3F9"/>
          </a:solidFill>
          <a:ln xmlns:a="http://schemas.openxmlformats.org/drawingml/2006/main" w="13335">
            <a:solidFill>
              <a:srgbClr val="9CB6CE"/>
            </a:solidFill>
            <a:prstDash val="solid"/>
          </a:ln>
        </p:spPr>
      </p:sp>
      <p:sp>
        <p:nvSpPr>
          <p:cNvPr id="72" name="observation-heading">
            <a:extLst xmlns:a="http://schemas.openxmlformats.org/drawingml/2006/main">
              <a:ext uri="{FF2B5EF4-FFF2-40B4-BE49-F238E27FC236}">
                <a16:creationId xmlns:a16="http://schemas.microsoft.com/office/drawing/2014/main" id="{3EA2D9F5-A374-4384-8002-548C093F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800600"/>
            <a:ext cx="2905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defPPr>
            <a:lvl1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1pPr>
            <a:lvl2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2pPr>
            <a:lvl3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3pPr>
            <a:lvl4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4pPr>
            <a:lvl5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5pPr>
            <a:lvl6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6pPr>
            <a:lvl7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7pPr>
            <a:lvl8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8pPr>
            <a:lvl9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def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5" b="0" i="0">
                <a:solidFill>
                  <a:srgbClr val="4C78A6"/>
                </a:solidFill>
                <a:latin typeface="Times New Roman"/>
                <a:ea typeface="Times New Roman"/>
                <a:cs typeface="Times New Roman"/>
              </a:rPr>
              <a:t>Observation  oₜ</a:t>
            </a:r>
          </a:p>
        </p:txBody>
      </p:sp>
      <p:sp>
        <p:nvSpPr>
          <p:cNvPr id="73" name="observation-data">
            <a:extLst xmlns:a="http://schemas.openxmlformats.org/drawingml/2006/main">
              <a:ext uri="{FF2B5EF4-FFF2-40B4-BE49-F238E27FC236}">
                <a16:creationId xmlns:a16="http://schemas.microsoft.com/office/drawing/2014/main" id="{2D67BBB3-067A-486C-B6E7-47085451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5200650"/>
            <a:ext cx="29622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统计表 · 国标判定 · 校验结果</a:t>
            </a:r>
          </a:p>
        </p:txBody>
      </p:sp>
      <p:sp>
        <p:nvSpPr>
          <p:cNvPr id="74" name="tool-to-observation">
            <a:extLst xmlns:a="http://schemas.openxmlformats.org/drawingml/2006/main">
              <a:ext uri="{FF2B5EF4-FFF2-40B4-BE49-F238E27FC236}">
                <a16:creationId xmlns:a16="http://schemas.microsoft.com/office/drawing/2014/main" id="{15487ABD-91BA-456F-85EF-828EA65E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162425"/>
            <a:ext cx="1114425" cy="1000125"/>
          </a:xfrm>
          <a:custGeom xmlns:a="http://schemas.openxmlformats.org/drawingml/2006/main">
            <a:pathLst>
              <a:path w="1114425" h="1000125">
                <a:moveTo>
                  <a:pt x="1114425" y="0"/>
                </a:moveTo>
                <a:lnTo>
                  <a:pt x="523875" y="0"/>
                </a:lnTo>
                <a:lnTo>
                  <a:pt x="523875" y="1000125"/>
                </a:lnTo>
                <a:lnTo>
                  <a:pt x="0" y="1000125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4C78A6"/>
            </a:solidFill>
            <a:prstDash val="solid"/>
          </a:ln>
        </p:spPr>
      </p:sp>
      <p:sp>
        <p:nvSpPr>
          <p:cNvPr id="75" name="tool-to-observation-arrow">
            <a:extLst xmlns:a="http://schemas.openxmlformats.org/drawingml/2006/main">
              <a:ext uri="{FF2B5EF4-FFF2-40B4-BE49-F238E27FC236}">
                <a16:creationId xmlns:a16="http://schemas.microsoft.com/office/drawing/2014/main" id="{8DFF9154-7067-480C-8B6D-5BC2D261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29784"/>
            <a:ext cx="76200" cy="65532"/>
          </a:xfrm>
          <a:custGeom xmlns:a="http://schemas.openxmlformats.org/drawingml/2006/main">
            <a:pathLst>
              <a:path w="76200" h="65532">
                <a:moveTo>
                  <a:pt x="0" y="32766"/>
                </a:moveTo>
                <a:lnTo>
                  <a:pt x="76200" y="0"/>
                </a:lnTo>
                <a:lnTo>
                  <a:pt x="76200" y="65532"/>
                </a:lnTo>
                <a:close/>
              </a:path>
            </a:pathLst>
          </a:custGeom>
          <a:solidFill xmlns:a="http://schemas.openxmlformats.org/drawingml/2006/main">
            <a:srgbClr val="4C78A6"/>
          </a:solidFill>
          <a:ln xmlns:a="http://schemas.openxmlformats.org/drawingml/2006/main" w="4763">
            <a:solidFill>
              <a:srgbClr val="4C78A6"/>
            </a:solidFill>
            <a:prstDash val="solid"/>
          </a:ln>
        </p:spPr>
      </p:sp>
      <p:sp>
        <p:nvSpPr>
          <p:cNvPr id="76" name="observation-return-label">
            <a:extLst xmlns:a="http://schemas.openxmlformats.org/drawingml/2006/main">
              <a:ext uri="{FF2B5EF4-FFF2-40B4-BE49-F238E27FC236}">
                <a16:creationId xmlns:a16="http://schemas.microsoft.com/office/drawing/2014/main" id="{6B8893A2-9C7D-489C-BF7F-92D89FFC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238750"/>
            <a:ext cx="876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rPr>
              <a:t>结果反馈</a:t>
            </a:r>
          </a:p>
        </p:txBody>
      </p:sp>
      <p:sp>
        <p:nvSpPr>
          <p:cNvPr id="77" name="observation-to-model">
            <a:extLst xmlns:a="http://schemas.openxmlformats.org/drawingml/2006/main">
              <a:ext uri="{FF2B5EF4-FFF2-40B4-BE49-F238E27FC236}">
                <a16:creationId xmlns:a16="http://schemas.microsoft.com/office/drawing/2014/main" id="{2CF36A12-56D6-4AAF-AD14-4FCB8838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962400"/>
            <a:ext cx="9525" cy="742950"/>
          </a:xfrm>
          <a:custGeom xmlns:a="http://schemas.openxmlformats.org/drawingml/2006/main">
            <a:pathLst>
              <a:path w="9525" h="742950">
                <a:moveTo>
                  <a:pt x="0" y="7429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718">
            <a:solidFill>
              <a:srgbClr val="4C78A6"/>
            </a:solidFill>
            <a:prstDash val="solid"/>
          </a:ln>
        </p:spPr>
      </p:sp>
      <p:sp>
        <p:nvSpPr>
          <p:cNvPr id="78" name="observation-to-model-arrow">
            <a:extLst xmlns:a="http://schemas.openxmlformats.org/drawingml/2006/main">
              <a:ext uri="{FF2B5EF4-FFF2-40B4-BE49-F238E27FC236}">
                <a16:creationId xmlns:a16="http://schemas.microsoft.com/office/drawing/2014/main" id="{CCD4859D-3903-4976-85E8-472A0C64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0284" y="3962400"/>
            <a:ext cx="65532" cy="76200"/>
          </a:xfrm>
          <a:custGeom xmlns:a="http://schemas.openxmlformats.org/drawingml/2006/main">
            <a:pathLst>
              <a:path w="65532" h="76200">
                <a:moveTo>
                  <a:pt x="32766" y="0"/>
                </a:moveTo>
                <a:lnTo>
                  <a:pt x="65532" y="7620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4C78A6"/>
          </a:solidFill>
          <a:ln xmlns:a="http://schemas.openxmlformats.org/drawingml/2006/main" w="4763">
            <a:solidFill>
              <a:srgbClr val="4C78A6"/>
            </a:solidFill>
            <a:prstDash val="solid"/>
          </a:ln>
        </p:spPr>
      </p:sp>
      <p:sp>
        <p:nvSpPr>
          <p:cNvPr id="79" name="update-context">
            <a:extLst xmlns:a="http://schemas.openxmlformats.org/drawingml/2006/main">
              <a:ext uri="{FF2B5EF4-FFF2-40B4-BE49-F238E27FC236}">
                <a16:creationId xmlns:a16="http://schemas.microsoft.com/office/drawing/2014/main" id="{877C7D3D-5605-48BA-AF4D-ED7AC15A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257675"/>
            <a:ext cx="1304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rPr>
              <a:t>更新上下文</a:t>
            </a:r>
          </a:p>
        </p:txBody>
      </p:sp>
      <p:sp>
        <p:nvSpPr>
          <p:cNvPr id="80" name="final-answer-path">
            <a:extLst xmlns:a="http://schemas.openxmlformats.org/drawingml/2006/main">
              <a:ext uri="{FF2B5EF4-FFF2-40B4-BE49-F238E27FC236}">
                <a16:creationId xmlns:a16="http://schemas.microsoft.com/office/drawing/2014/main" id="{A840605B-C3BF-4E24-A109-07466779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38550"/>
            <a:ext cx="857250" cy="2038350"/>
          </a:xfrm>
          <a:custGeom xmlns:a="http://schemas.openxmlformats.org/drawingml/2006/main">
            <a:pathLst>
              <a:path w="857250" h="2038350">
                <a:moveTo>
                  <a:pt x="857250" y="0"/>
                </a:moveTo>
                <a:lnTo>
                  <a:pt x="400050" y="0"/>
                </a:lnTo>
                <a:lnTo>
                  <a:pt x="400050" y="2038350"/>
                </a:lnTo>
                <a:lnTo>
                  <a:pt x="0" y="2038350"/>
                </a:lnTo>
              </a:path>
            </a:pathLst>
          </a:custGeom>
          <a:noFill xmlns:a="http://schemas.openxmlformats.org/drawingml/2006/main"/>
          <a:ln xmlns:a="http://schemas.openxmlformats.org/drawingml/2006/main" w="24765">
            <a:solidFill>
              <a:srgbClr val="AF8046"/>
            </a:solidFill>
            <a:prstDash val="solid"/>
          </a:ln>
        </p:spPr>
      </p:sp>
      <p:sp>
        <p:nvSpPr>
          <p:cNvPr id="81" name="final-answer-path-arrow">
            <a:extLst xmlns:a="http://schemas.openxmlformats.org/drawingml/2006/main">
              <a:ext uri="{FF2B5EF4-FFF2-40B4-BE49-F238E27FC236}">
                <a16:creationId xmlns:a16="http://schemas.microsoft.com/office/drawing/2014/main" id="{7FF93A73-9638-4306-8257-6AE0CBC4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44134"/>
            <a:ext cx="76200" cy="65532"/>
          </a:xfrm>
          <a:custGeom xmlns:a="http://schemas.openxmlformats.org/drawingml/2006/main">
            <a:pathLst>
              <a:path w="76200" h="65532">
                <a:moveTo>
                  <a:pt x="0" y="32766"/>
                </a:moveTo>
                <a:lnTo>
                  <a:pt x="76200" y="0"/>
                </a:lnTo>
                <a:lnTo>
                  <a:pt x="76200" y="65532"/>
                </a:lnTo>
                <a:close/>
              </a:path>
            </a:pathLst>
          </a:custGeom>
          <a:solidFill xmlns:a="http://schemas.openxmlformats.org/drawingml/2006/main">
            <a:srgbClr val="AF8046"/>
          </a:solidFill>
          <a:ln xmlns:a="http://schemas.openxmlformats.org/drawingml/2006/main" w="4763">
            <a:solidFill>
              <a:srgbClr val="AF8046"/>
            </a:solidFill>
            <a:prstDash val="solid"/>
          </a:ln>
        </p:spPr>
      </p:sp>
      <p:sp>
        <p:nvSpPr>
          <p:cNvPr id="82" name="completion-label">
            <a:extLst xmlns:a="http://schemas.openxmlformats.org/drawingml/2006/main">
              <a:ext uri="{FF2B5EF4-FFF2-40B4-BE49-F238E27FC236}">
                <a16:creationId xmlns:a16="http://schemas.microsoft.com/office/drawing/2014/main" id="{4E9F0801-4AD6-4968-8E5C-6B15BA63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591050"/>
            <a:ext cx="4095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rPr>
              <a:t>完成</a:t>
            </a:r>
          </a:p>
        </p:txBody>
      </p:sp>
      <p:sp>
        <p:nvSpPr>
          <p:cNvPr id="83" name="output-document">
            <a:extLst xmlns:a="http://schemas.openxmlformats.org/drawingml/2006/main">
              <a:ext uri="{FF2B5EF4-FFF2-40B4-BE49-F238E27FC236}">
                <a16:creationId xmlns:a16="http://schemas.microsoft.com/office/drawing/2014/main" id="{5AAB4395-2C53-4626-9CB8-3350D33F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2286000" cy="981075"/>
          </a:xfrm>
          <a:prstGeom xmlns:a="http://schemas.openxmlformats.org/drawingml/2006/main" prst="roundRect">
            <a:avLst>
              <a:gd name="adj" fmla="val 5825"/>
            </a:avLst>
          </a:prstGeom>
          <a:solidFill xmlns:a="http://schemas.openxmlformats.org/drawingml/2006/main">
            <a:srgbClr val="F8F0E3"/>
          </a:solidFill>
          <a:ln xmlns:a="http://schemas.openxmlformats.org/drawingml/2006/main" w="13335">
            <a:solidFill>
              <a:srgbClr val="D7C4A7"/>
            </a:solidFill>
            <a:prstDash val="solid"/>
          </a:ln>
        </p:spPr>
      </p:sp>
      <p:sp>
        <p:nvSpPr>
          <p:cNvPr id="84" name="output-heading">
            <a:extLst xmlns:a="http://schemas.openxmlformats.org/drawingml/2006/main">
              <a:ext uri="{FF2B5EF4-FFF2-40B4-BE49-F238E27FC236}">
                <a16:creationId xmlns:a16="http://schemas.microsoft.com/office/drawing/2014/main" id="{01561B92-751B-4C04-9857-F947D914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219700"/>
            <a:ext cx="1971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最终答复与可视化</a:t>
            </a:r>
          </a:p>
        </p:txBody>
      </p:sp>
      <p:sp>
        <p:nvSpPr>
          <p:cNvPr id="85" name="output-plot-axis">
            <a:extLst xmlns:a="http://schemas.openxmlformats.org/drawingml/2006/main">
              <a:ext uri="{FF2B5EF4-FFF2-40B4-BE49-F238E27FC236}">
                <a16:creationId xmlns:a16="http://schemas.microsoft.com/office/drawing/2014/main" id="{A8861C30-D546-496D-8FF4-3DDA20D5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0225"/>
            <a:ext cx="600075" cy="342900"/>
          </a:xfrm>
          <a:custGeom xmlns:a="http://schemas.openxmlformats.org/drawingml/2006/main">
            <a:pathLst>
              <a:path w="600075" h="342900">
                <a:moveTo>
                  <a:pt x="0" y="0"/>
                </a:moveTo>
                <a:lnTo>
                  <a:pt x="0" y="342900"/>
                </a:lnTo>
                <a:lnTo>
                  <a:pt x="600075" y="34290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AF8046"/>
            </a:solidFill>
            <a:prstDash val="solid"/>
          </a:ln>
        </p:spPr>
      </p:sp>
      <p:sp>
        <p:nvSpPr>
          <p:cNvPr id="86" name="output-bar-0">
            <a:extLst xmlns:a="http://schemas.openxmlformats.org/drawingml/2006/main">
              <a:ext uri="{FF2B5EF4-FFF2-40B4-BE49-F238E27FC236}">
                <a16:creationId xmlns:a16="http://schemas.microsoft.com/office/drawing/2014/main" id="{B386A1B4-9A87-47E5-9050-C0161249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676900"/>
            <a:ext cx="66675" cy="276225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685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output-bar-1">
            <a:extLst xmlns:a="http://schemas.openxmlformats.org/drawingml/2006/main">
              <a:ext uri="{FF2B5EF4-FFF2-40B4-BE49-F238E27FC236}">
                <a16:creationId xmlns:a16="http://schemas.microsoft.com/office/drawing/2014/main" id="{51FDF327-EAAD-481E-9EAA-D4F920B5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762625"/>
            <a:ext cx="66675" cy="1905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DC7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output-bar-2">
            <a:extLst xmlns:a="http://schemas.openxmlformats.org/drawingml/2006/main">
              <a:ext uri="{FF2B5EF4-FFF2-40B4-BE49-F238E27FC236}">
                <a16:creationId xmlns:a16="http://schemas.microsoft.com/office/drawing/2014/main" id="{3A53E13C-056A-4031-9CB5-8D1F9EE0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781675"/>
            <a:ext cx="66675" cy="1714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DC7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output-bar-3">
            <a:extLst xmlns:a="http://schemas.openxmlformats.org/drawingml/2006/main">
              <a:ext uri="{FF2B5EF4-FFF2-40B4-BE49-F238E27FC236}">
                <a16:creationId xmlns:a16="http://schemas.microsoft.com/office/drawing/2014/main" id="{6EECAFF2-20AB-44F2-A4F9-44F25FE9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00725"/>
            <a:ext cx="66675" cy="152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DC7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output-bar-4">
            <a:extLst xmlns:a="http://schemas.openxmlformats.org/drawingml/2006/main">
              <a:ext uri="{FF2B5EF4-FFF2-40B4-BE49-F238E27FC236}">
                <a16:creationId xmlns:a16="http://schemas.microsoft.com/office/drawing/2014/main" id="{9D109BE2-4932-42D9-AB62-67499441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5800725"/>
            <a:ext cx="66675" cy="152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ADC7B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output-content">
            <a:extLst xmlns:a="http://schemas.openxmlformats.org/drawingml/2006/main">
              <a:ext uri="{FF2B5EF4-FFF2-40B4-BE49-F238E27FC236}">
                <a16:creationId xmlns:a16="http://schemas.microsoft.com/office/drawing/2014/main" id="{C1C1E978-B5BF-4C04-B3A5-B5992121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1190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统计结论</a:t>
            </a:r>
          </a:p>
          <a:p xmlns:a="http://schemas.openxmlformats.org/drawingml/2006/main">
            <a:pPr algn="l">
              <a:def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表格 / SVG</a:t>
            </a:r>
          </a:p>
        </p:txBody>
      </p:sp>
      <p:sp>
        <p:nvSpPr>
          <p:cNvPr id="92" name="data-substrate">
            <a:extLst xmlns:a="http://schemas.openxmlformats.org/drawingml/2006/main">
              <a:ext uri="{FF2B5EF4-FFF2-40B4-BE49-F238E27FC236}">
                <a16:creationId xmlns:a16="http://schemas.microsoft.com/office/drawing/2014/main" id="{EB815986-8814-4BFA-9D5D-FBF89C8C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153025"/>
            <a:ext cx="3371850" cy="981075"/>
          </a:xfrm>
          <a:prstGeom xmlns:a="http://schemas.openxmlformats.org/drawingml/2006/main" prst="roundRect">
            <a:avLst>
              <a:gd name="adj" fmla="val 5825"/>
            </a:avLst>
          </a:prstGeom>
          <a:solidFill xmlns:a="http://schemas.openxmlformats.org/drawingml/2006/main">
            <a:srgbClr val="F5F4EE"/>
          </a:solidFill>
          <a:ln xmlns:a="http://schemas.openxmlformats.org/drawingml/2006/main" w="12383">
            <a:solidFill>
              <a:srgbClr val="D5D4C6"/>
            </a:solidFill>
            <a:prstDash val="solid"/>
          </a:ln>
        </p:spPr>
      </p:sp>
      <p:sp>
        <p:nvSpPr>
          <p:cNvPr id="93" name="database-body">
            <a:extLst xmlns:a="http://schemas.openxmlformats.org/drawingml/2006/main">
              <a:ext uri="{FF2B5EF4-FFF2-40B4-BE49-F238E27FC236}">
                <a16:creationId xmlns:a16="http://schemas.microsoft.com/office/drawing/2014/main" id="{8CC8ED53-C3B9-4D2D-BC85-582BCFE1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5410200"/>
            <a:ext cx="457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9E0"/>
          </a:solidFill>
          <a:ln xmlns:a="http://schemas.openxmlformats.org/drawingml/2006/main" w="13335">
            <a:solidFill>
              <a:srgbClr val="60776F"/>
            </a:solidFill>
            <a:prstDash val="solid"/>
          </a:ln>
        </p:spPr>
      </p:sp>
      <p:sp>
        <p:nvSpPr>
          <p:cNvPr id="94" name="database-bottom">
            <a:extLst xmlns:a="http://schemas.openxmlformats.org/drawingml/2006/main">
              <a:ext uri="{FF2B5EF4-FFF2-40B4-BE49-F238E27FC236}">
                <a16:creationId xmlns:a16="http://schemas.microsoft.com/office/drawing/2014/main" id="{34D43503-7947-428D-8EBF-1793E46C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5724525"/>
            <a:ext cx="45720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E9E0"/>
          </a:solidFill>
          <a:ln xmlns:a="http://schemas.openxmlformats.org/drawingml/2006/main" w="13335">
            <a:solidFill>
              <a:srgbClr val="60776F"/>
            </a:solidFill>
            <a:prstDash val="solid"/>
          </a:ln>
        </p:spPr>
      </p:sp>
      <p:sp>
        <p:nvSpPr>
          <p:cNvPr id="95" name="database-top">
            <a:extLst xmlns:a="http://schemas.openxmlformats.org/drawingml/2006/main">
              <a:ext uri="{FF2B5EF4-FFF2-40B4-BE49-F238E27FC236}">
                <a16:creationId xmlns:a16="http://schemas.microsoft.com/office/drawing/2014/main" id="{4D982CA2-35F1-429B-8F9A-3771FA94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5343525"/>
            <a:ext cx="457200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FAF5"/>
          </a:solidFill>
          <a:ln xmlns:a="http://schemas.openxmlformats.org/drawingml/2006/main" w="13335">
            <a:solidFill>
              <a:srgbClr val="60776F"/>
            </a:solidFill>
            <a:prstDash val="solid"/>
          </a:ln>
        </p:spPr>
      </p:sp>
      <p:sp>
        <p:nvSpPr>
          <p:cNvPr id="96" name="database-divider1">
            <a:extLst xmlns:a="http://schemas.openxmlformats.org/drawingml/2006/main">
              <a:ext uri="{FF2B5EF4-FFF2-40B4-BE49-F238E27FC236}">
                <a16:creationId xmlns:a16="http://schemas.microsoft.com/office/drawing/2014/main" id="{A99C59DF-92C3-49A5-9CEC-27C1021A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543550"/>
            <a:ext cx="438150" cy="47625"/>
          </a:xfrm>
          <a:custGeom xmlns:a="http://schemas.openxmlformats.org/drawingml/2006/main">
            <a:pathLst>
              <a:path w="438150" h="47625">
                <a:moveTo>
                  <a:pt x="0" y="0"/>
                </a:moveTo>
                <a:lnTo>
                  <a:pt x="95250" y="47625"/>
                </a:lnTo>
                <a:lnTo>
                  <a:pt x="342900" y="47625"/>
                </a:ln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0776F"/>
            </a:solidFill>
            <a:prstDash val="solid"/>
          </a:ln>
        </p:spPr>
      </p:sp>
      <p:sp>
        <p:nvSpPr>
          <p:cNvPr id="97" name="database-divider2">
            <a:extLst xmlns:a="http://schemas.openxmlformats.org/drawingml/2006/main">
              <a:ext uri="{FF2B5EF4-FFF2-40B4-BE49-F238E27FC236}">
                <a16:creationId xmlns:a16="http://schemas.microsoft.com/office/drawing/2014/main" id="{6F87479A-6A31-4757-B9BA-3FB3001E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648325"/>
            <a:ext cx="438150" cy="47625"/>
          </a:xfrm>
          <a:custGeom xmlns:a="http://schemas.openxmlformats.org/drawingml/2006/main">
            <a:pathLst>
              <a:path w="438150" h="47625">
                <a:moveTo>
                  <a:pt x="0" y="0"/>
                </a:moveTo>
                <a:lnTo>
                  <a:pt x="95250" y="47625"/>
                </a:lnTo>
                <a:lnTo>
                  <a:pt x="342900" y="47625"/>
                </a:ln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">
            <a:solidFill>
              <a:srgbClr val="60776F"/>
            </a:solidFill>
            <a:prstDash val="solid"/>
          </a:ln>
        </p:spPr>
      </p:sp>
      <p:sp>
        <p:nvSpPr>
          <p:cNvPr id="98" name="dataset-name">
            <a:extLst xmlns:a="http://schemas.openxmlformats.org/drawingml/2006/main">
              <a:ext uri="{FF2B5EF4-FFF2-40B4-BE49-F238E27FC236}">
                <a16:creationId xmlns:a16="http://schemas.microsoft.com/office/drawing/2014/main" id="{97BC504E-8E17-4379-A75C-F0419170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248275"/>
            <a:ext cx="2276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本地数据 D</a:t>
            </a:r>
          </a:p>
        </p:txBody>
      </p:sp>
      <p:sp>
        <p:nvSpPr>
          <p:cNvPr id="99" name="dataset-count">
            <a:extLst xmlns:a="http://schemas.openxmlformats.org/drawingml/2006/main">
              <a:ext uri="{FF2B5EF4-FFF2-40B4-BE49-F238E27FC236}">
                <a16:creationId xmlns:a16="http://schemas.microsoft.com/office/drawing/2014/main" id="{38D12713-C65E-41AB-A077-47E59675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57212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173E35"/>
                </a:solidFill>
                <a:latin typeface="PingFang SC"/>
                <a:ea typeface="PingFang SC"/>
                <a:cs typeface="PingFang SC"/>
              </a:rPr>
              <a:t>125,172 条城市日</a:t>
            </a:r>
          </a:p>
        </p:txBody>
      </p:sp>
      <p:sp>
        <p:nvSpPr>
          <p:cNvPr id="100" name="dataset-engine">
            <a:extLst xmlns:a="http://schemas.openxmlformats.org/drawingml/2006/main">
              <a:ext uri="{FF2B5EF4-FFF2-40B4-BE49-F238E27FC236}">
                <a16:creationId xmlns:a16="http://schemas.microsoft.com/office/drawing/2014/main" id="{EBF65191-A451-4178-989C-9238D8C8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8388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60776F"/>
                </a:solidFill>
                <a:latin typeface="PingFang SC"/>
                <a:ea typeface="PingFang SC"/>
                <a:cs typeface="PingFang SC"/>
              </a:rPr>
              <a:t>CSV / SQLite · 2024</a:t>
            </a:r>
          </a:p>
        </p:txBody>
      </p:sp>
      <p:sp>
        <p:nvSpPr>
          <p:cNvPr id="101" name="data-to-executor">
            <a:extLst xmlns:a="http://schemas.openxmlformats.org/drawingml/2006/main">
              <a:ext uri="{FF2B5EF4-FFF2-40B4-BE49-F238E27FC236}">
                <a16:creationId xmlns:a16="http://schemas.microsoft.com/office/drawing/2014/main" id="{50DCE6A7-78FA-4E28-8253-6C76118D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648200"/>
            <a:ext cx="9525" cy="504825"/>
          </a:xfrm>
          <a:custGeom xmlns:a="http://schemas.openxmlformats.org/drawingml/2006/main">
            <a:pathLst>
              <a:path w="9525" h="504825">
                <a:moveTo>
                  <a:pt x="0" y="5048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003">
            <a:solidFill>
              <a:srgbClr val="83958C"/>
            </a:solidFill>
            <a:prstDash val="solid"/>
          </a:ln>
        </p:spPr>
      </p:sp>
      <p:sp>
        <p:nvSpPr>
          <p:cNvPr id="102" name="data-to-executor-arrow">
            <a:extLst xmlns:a="http://schemas.openxmlformats.org/drawingml/2006/main">
              <a:ext uri="{FF2B5EF4-FFF2-40B4-BE49-F238E27FC236}">
                <a16:creationId xmlns:a16="http://schemas.microsoft.com/office/drawing/2014/main" id="{604B73C3-708C-4ED3-A80A-F381ABF3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7984" y="4648200"/>
            <a:ext cx="65532" cy="76200"/>
          </a:xfrm>
          <a:custGeom xmlns:a="http://schemas.openxmlformats.org/drawingml/2006/main">
            <a:pathLst>
              <a:path w="65532" h="76200">
                <a:moveTo>
                  <a:pt x="32766" y="0"/>
                </a:moveTo>
                <a:lnTo>
                  <a:pt x="65532" y="76200"/>
                </a:lnTo>
                <a:lnTo>
                  <a:pt x="0" y="76200"/>
                </a:lnTo>
                <a:close/>
              </a:path>
            </a:pathLst>
          </a:custGeom>
          <a:solidFill xmlns:a="http://schemas.openxmlformats.org/drawingml/2006/main">
            <a:srgbClr val="83958C"/>
          </a:solidFill>
          <a:ln xmlns:a="http://schemas.openxmlformats.org/drawingml/2006/main" w="4763">
            <a:solidFill>
              <a:srgbClr val="83958C"/>
            </a:solidFill>
            <a:prstDash val="solid"/>
          </a:ln>
        </p:spPr>
      </p:sp>
      <p:sp>
        <p:nvSpPr>
          <p:cNvPr id="103" name="legend-action">
            <a:extLst xmlns:a="http://schemas.openxmlformats.org/drawingml/2006/main">
              <a:ext uri="{FF2B5EF4-FFF2-40B4-BE49-F238E27FC236}">
                <a16:creationId xmlns:a16="http://schemas.microsoft.com/office/drawing/2014/main" id="{338F31F8-6423-4C3B-85DC-9952AD87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419850"/>
            <a:ext cx="352425" cy="9525"/>
          </a:xfrm>
          <a:custGeom xmlns:a="http://schemas.openxmlformats.org/drawingml/2006/main">
            <a:pathLst>
              <a:path w="352425" h="9525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68574"/>
            </a:solidFill>
            <a:prstDash val="solid"/>
          </a:ln>
        </p:spPr>
      </p:sp>
      <p:sp>
        <p:nvSpPr>
          <p:cNvPr id="104" name="legend-action-arrow">
            <a:extLst xmlns:a="http://schemas.openxmlformats.org/drawingml/2006/main">
              <a:ext uri="{FF2B5EF4-FFF2-40B4-BE49-F238E27FC236}">
                <a16:creationId xmlns:a16="http://schemas.microsoft.com/office/drawing/2014/main" id="{0509D9A5-5695-4F5A-87DF-9656A4ED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387084"/>
            <a:ext cx="76200" cy="65532"/>
          </a:xfrm>
          <a:custGeom xmlns:a="http://schemas.openxmlformats.org/drawingml/2006/main">
            <a:pathLst>
              <a:path w="76200" h="65532">
                <a:moveTo>
                  <a:pt x="76200" y="32766"/>
                </a:moveTo>
                <a:lnTo>
                  <a:pt x="0" y="6553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68574"/>
          </a:solidFill>
          <a:ln xmlns:a="http://schemas.openxmlformats.org/drawingml/2006/main" w="4763">
            <a:solidFill>
              <a:srgbClr val="168574"/>
            </a:solidFill>
            <a:prstDash val="solid"/>
          </a:ln>
        </p:spPr>
      </p:sp>
      <p:sp>
        <p:nvSpPr>
          <p:cNvPr id="105" name="legend-action-text">
            <a:extLst xmlns:a="http://schemas.openxmlformats.org/drawingml/2006/main">
              <a:ext uri="{FF2B5EF4-FFF2-40B4-BE49-F238E27FC236}">
                <a16:creationId xmlns:a16="http://schemas.microsoft.com/office/drawing/2014/main" id="{75C0652C-1A31-455A-8983-7743084E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76975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168574"/>
                </a:solidFill>
                <a:latin typeface="PingFang SC"/>
                <a:ea typeface="PingFang SC"/>
                <a:cs typeface="PingFang SC"/>
              </a:rPr>
              <a:t>工具请求 aₜ</a:t>
            </a:r>
          </a:p>
        </p:txBody>
      </p:sp>
      <p:sp>
        <p:nvSpPr>
          <p:cNvPr id="106" name="legend-observation">
            <a:extLst xmlns:a="http://schemas.openxmlformats.org/drawingml/2006/main">
              <a:ext uri="{FF2B5EF4-FFF2-40B4-BE49-F238E27FC236}">
                <a16:creationId xmlns:a16="http://schemas.microsoft.com/office/drawing/2014/main" id="{ECC660B4-1ADF-4A16-BF04-CB5188F1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6419850"/>
            <a:ext cx="352425" cy="9525"/>
          </a:xfrm>
          <a:custGeom xmlns:a="http://schemas.openxmlformats.org/drawingml/2006/main">
            <a:pathLst>
              <a:path w="352425" h="9525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4C78A6"/>
            </a:solidFill>
            <a:prstDash val="solid"/>
          </a:ln>
        </p:spPr>
      </p:sp>
      <p:sp>
        <p:nvSpPr>
          <p:cNvPr id="107" name="legend-observation-arrow">
            <a:extLst xmlns:a="http://schemas.openxmlformats.org/drawingml/2006/main">
              <a:ext uri="{FF2B5EF4-FFF2-40B4-BE49-F238E27FC236}">
                <a16:creationId xmlns:a16="http://schemas.microsoft.com/office/drawing/2014/main" id="{FBCE32A4-E603-40AC-B0AB-267C36EF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6387084"/>
            <a:ext cx="76200" cy="65532"/>
          </a:xfrm>
          <a:custGeom xmlns:a="http://schemas.openxmlformats.org/drawingml/2006/main">
            <a:pathLst>
              <a:path w="76200" h="65532">
                <a:moveTo>
                  <a:pt x="76200" y="32766"/>
                </a:moveTo>
                <a:lnTo>
                  <a:pt x="0" y="6553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C78A6"/>
          </a:solidFill>
          <a:ln xmlns:a="http://schemas.openxmlformats.org/drawingml/2006/main" w="4763">
            <a:solidFill>
              <a:srgbClr val="4C78A6"/>
            </a:solidFill>
            <a:prstDash val="solid"/>
          </a:ln>
        </p:spPr>
      </p:sp>
      <p:sp>
        <p:nvSpPr>
          <p:cNvPr id="108" name="legend-observation-text">
            <a:extLst xmlns:a="http://schemas.openxmlformats.org/drawingml/2006/main">
              <a:ext uri="{FF2B5EF4-FFF2-40B4-BE49-F238E27FC236}">
                <a16:creationId xmlns:a16="http://schemas.microsoft.com/office/drawing/2014/main" id="{D9C0298C-DCCF-4764-8FB0-055D6E58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6276975"/>
            <a:ext cx="1571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C78A6"/>
                </a:solidFill>
                <a:latin typeface="PingFang SC"/>
                <a:ea typeface="PingFang SC"/>
                <a:cs typeface="PingFang SC"/>
              </a:rPr>
              <a:t>执行结果 oₜ</a:t>
            </a:r>
          </a:p>
        </p:txBody>
      </p:sp>
      <p:sp>
        <p:nvSpPr>
          <p:cNvPr id="109" name="legend-answer">
            <a:extLst xmlns:a="http://schemas.openxmlformats.org/drawingml/2006/main">
              <a:ext uri="{FF2B5EF4-FFF2-40B4-BE49-F238E27FC236}">
                <a16:creationId xmlns:a16="http://schemas.microsoft.com/office/drawing/2014/main" id="{C7BC61B4-A6DD-4FA9-9F4D-5BBD2477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6419850"/>
            <a:ext cx="352425" cy="9525"/>
          </a:xfrm>
          <a:custGeom xmlns:a="http://schemas.openxmlformats.org/drawingml/2006/main">
            <a:pathLst>
              <a:path w="352425" h="9525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AF8046"/>
            </a:solidFill>
            <a:prstDash val="solid"/>
          </a:ln>
        </p:spPr>
      </p:sp>
      <p:sp>
        <p:nvSpPr>
          <p:cNvPr id="110" name="legend-answer-arrow">
            <a:extLst xmlns:a="http://schemas.openxmlformats.org/drawingml/2006/main">
              <a:ext uri="{FF2B5EF4-FFF2-40B4-BE49-F238E27FC236}">
                <a16:creationId xmlns:a16="http://schemas.microsoft.com/office/drawing/2014/main" id="{13A48170-965B-4C9A-B19C-1A44CF1A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6387084"/>
            <a:ext cx="76200" cy="65532"/>
          </a:xfrm>
          <a:custGeom xmlns:a="http://schemas.openxmlformats.org/drawingml/2006/main">
            <a:pathLst>
              <a:path w="76200" h="65532">
                <a:moveTo>
                  <a:pt x="76200" y="32766"/>
                </a:moveTo>
                <a:lnTo>
                  <a:pt x="0" y="65532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F8046"/>
          </a:solidFill>
          <a:ln xmlns:a="http://schemas.openxmlformats.org/drawingml/2006/main" w="4763">
            <a:solidFill>
              <a:srgbClr val="AF8046"/>
            </a:solidFill>
            <a:prstDash val="solid"/>
          </a:ln>
        </p:spPr>
      </p:sp>
      <p:sp>
        <p:nvSpPr>
          <p:cNvPr id="111" name="legend-answer-text">
            <a:extLst xmlns:a="http://schemas.openxmlformats.org/drawingml/2006/main">
              <a:ext uri="{FF2B5EF4-FFF2-40B4-BE49-F238E27FC236}">
                <a16:creationId xmlns:a16="http://schemas.microsoft.com/office/drawing/2014/main" id="{235A75CC-717F-47F7-A5AC-37FA5BF7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2769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AF8046"/>
                </a:solidFill>
                <a:latin typeface="PingFang SC"/>
                <a:ea typeface="PingFang SC"/>
                <a:cs typeface="PingFang SC"/>
              </a:rPr>
              <a:t>最终输出</a:t>
            </a:r>
          </a:p>
        </p:txBody>
      </p:sp>
    </p:spTree>
    <p:extLst>
      <p:ext uri="{BB962C8B-B14F-4D97-AF65-F5344CB8AC3E}">
        <p14:creationId xmlns:p14="http://schemas.microsoft.com/office/powerpoint/2010/main" val="14701120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99B4BA-DA39-4FD5-B4CE-9170FB9DA38B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19" idx="3"/>
          </p:cNvCxnSpPr>
          <p:nvPr/>
        </p:nvCxnSpPr>
        <p:spPr>
          <a:xfrm xmlns:a="http://schemas.openxmlformats.org/drawingml/2006/main" flipH="1">
            <a:off x="5524500" y="46482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A9D7A"/>
            </a:solidFill>
            <a:prstDash val="solid"/>
            <a:tailEnd type="arrow" w="med" len="med"/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A18D0E-9195-4C54-9633-7FC04F8C3B75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229600" y="46482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A9D7A"/>
            </a:solidFill>
            <a:prstDash val="solid"/>
            <a:tailEnd type="arrow" w="med" len="med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1C1D2C-EDC9-4F3A-9740-EAA72D174F9A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9867900" y="3181350"/>
            <a:ext cx="0" cy="933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A9D7A"/>
            </a:solidFill>
            <a:prstDash val="solid"/>
            <a:tailEnd type="arrow" w="med" len="med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48465A-24C9-42FC-829A-5B896AC2DC48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229600" y="26479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A9D7A"/>
            </a:solidFill>
            <a:prstDash val="solid"/>
            <a:tailEnd type="arrow" w="med" len="med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BE05D9-0758-4F5C-883A-174BE631B54C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524500" y="26479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A9D7A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DC05FD-D291-44DD-AC6A-D176E90C56C6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819400" y="26479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A9D7A"/>
            </a:solidFill>
            <a:prstDash val="solid"/>
            <a:tailEnd type="arrow" w="med" len="med"/>
          </a:ln>
        </p:spPr>
      </p:cxnSp>
      <p:sp>
        <p:nvSpPr>
          <p:cNvPr id="3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5D081B74-85D1-4056-92A5-362C0916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06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模型调度与本地数据处理</a:t>
            </a:r>
          </a:p>
        </p:txBody>
      </p:sp>
      <p:sp>
        <p:nvSpPr>
          <p:cNvPr id="2" name="slide-4-accent">
            <a:extLst xmlns:a="http://schemas.openxmlformats.org/drawingml/2006/main">
              <a:ext uri="{FF2B5EF4-FFF2-40B4-BE49-F238E27FC236}">
                <a16:creationId xmlns:a16="http://schemas.microsoft.com/office/drawing/2014/main" id="{2CC355E2-DFAC-4CFB-8882-30FAA764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57300"/>
            <a:ext cx="666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architecture-caption">
            <a:extLst xmlns:a="http://schemas.openxmlformats.org/drawingml/2006/main">
              <a:ext uri="{FF2B5EF4-FFF2-40B4-BE49-F238E27FC236}">
                <a16:creationId xmlns:a16="http://schemas.microsoft.com/office/drawing/2014/main" id="{8D50B5EC-FCD2-4583-A344-75C35102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38275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DeepSeek 通过工具请求本机查询；CSV 清洗、SQLite 聚合与统计校验在本机完成。</a:t>
            </a:r>
          </a:p>
        </p:txBody>
      </p:sp>
      <p:sp>
        <p:nvSpPr>
          <p:cNvPr id="4" name="arch-csv">
            <a:extLst xmlns:a="http://schemas.openxmlformats.org/drawingml/2006/main">
              <a:ext uri="{FF2B5EF4-FFF2-40B4-BE49-F238E27FC236}">
                <a16:creationId xmlns:a16="http://schemas.microsoft.com/office/drawing/2014/main" id="{BD84077F-48A4-4DDB-A4DD-12511B21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1336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4288">
            <a:solidFill>
              <a:srgbClr val="B7C9BF"/>
            </a:solidFill>
            <a:prstDash val="solid"/>
          </a:ln>
        </p:spPr>
      </p:sp>
      <p:sp>
        <p:nvSpPr>
          <p:cNvPr id="5" name="arch-csv-label">
            <a:extLst xmlns:a="http://schemas.openxmlformats.org/drawingml/2006/main">
              <a:ext uri="{FF2B5EF4-FFF2-40B4-BE49-F238E27FC236}">
                <a16:creationId xmlns:a16="http://schemas.microsoft.com/office/drawing/2014/main" id="{BC6C72CB-9CCD-4BCF-BC40-8B506C97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367 份小时 CSV</a:t>
            </a:r>
          </a:p>
        </p:txBody>
      </p:sp>
      <p:sp>
        <p:nvSpPr>
          <p:cNvPr id="6" name="arch-csv-sub">
            <a:extLst xmlns:a="http://schemas.openxmlformats.org/drawingml/2006/main">
              <a:ext uri="{FF2B5EF4-FFF2-40B4-BE49-F238E27FC236}">
                <a16:creationId xmlns:a16="http://schemas.microsoft.com/office/drawing/2014/main" id="{FE698593-DE64-4AB9-94BD-29673435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逐日来源归档</a:t>
            </a:r>
          </a:p>
        </p:txBody>
      </p:sp>
      <p:sp>
        <p:nvSpPr>
          <p:cNvPr id="7" name="arch-clean">
            <a:extLst xmlns:a="http://schemas.openxmlformats.org/drawingml/2006/main">
              <a:ext uri="{FF2B5EF4-FFF2-40B4-BE49-F238E27FC236}">
                <a16:creationId xmlns:a16="http://schemas.microsoft.com/office/drawing/2014/main" id="{A03204E1-0DCC-4B5E-84F6-27EB593E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14550"/>
            <a:ext cx="21336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4288">
            <a:solidFill>
              <a:srgbClr val="B7C9BF"/>
            </a:solidFill>
            <a:prstDash val="solid"/>
          </a:ln>
        </p:spPr>
      </p:sp>
      <p:sp>
        <p:nvSpPr>
          <p:cNvPr id="8" name="arch-clean-label">
            <a:extLst xmlns:a="http://schemas.openxmlformats.org/drawingml/2006/main">
              <a:ext uri="{FF2B5EF4-FFF2-40B4-BE49-F238E27FC236}">
                <a16:creationId xmlns:a16="http://schemas.microsoft.com/office/drawing/2014/main" id="{4E9DF32D-15E9-437B-92D2-1320E620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669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日值重算与清洗</a:t>
            </a:r>
          </a:p>
        </p:txBody>
      </p:sp>
      <p:sp>
        <p:nvSpPr>
          <p:cNvPr id="9" name="arch-clean-sub">
            <a:extLst xmlns:a="http://schemas.openxmlformats.org/drawingml/2006/main">
              <a:ext uri="{FF2B5EF4-FFF2-40B4-BE49-F238E27FC236}">
                <a16:creationId xmlns:a16="http://schemas.microsoft.com/office/drawing/2014/main" id="{EE56AF51-2138-444F-85E4-69EB28B8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860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有效小时 / O₃滑窗 / 缺失</a:t>
            </a:r>
          </a:p>
        </p:txBody>
      </p:sp>
      <p:sp>
        <p:nvSpPr>
          <p:cNvPr id="10" name="arch-sqlite">
            <a:extLst xmlns:a="http://schemas.openxmlformats.org/drawingml/2006/main">
              <a:ext uri="{FF2B5EF4-FFF2-40B4-BE49-F238E27FC236}">
                <a16:creationId xmlns:a16="http://schemas.microsoft.com/office/drawing/2014/main" id="{81C86A97-E556-459F-BFCC-1308B0B1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14550"/>
            <a:ext cx="21336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4288">
            <a:solidFill>
              <a:srgbClr val="B7C9BF"/>
            </a:solidFill>
            <a:prstDash val="solid"/>
          </a:ln>
        </p:spPr>
      </p:sp>
      <p:sp>
        <p:nvSpPr>
          <p:cNvPr id="11" name="arch-sqlite-label">
            <a:extLst xmlns:a="http://schemas.openxmlformats.org/drawingml/2006/main">
              <a:ext uri="{FF2B5EF4-FFF2-40B4-BE49-F238E27FC236}">
                <a16:creationId xmlns:a16="http://schemas.microsoft.com/office/drawing/2014/main" id="{C4DB69F5-FD7D-41F0-90AB-E3FE611E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669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SQLite</a:t>
            </a:r>
          </a:p>
        </p:txBody>
      </p:sp>
      <p:sp>
        <p:nvSpPr>
          <p:cNvPr id="12" name="arch-sqlite-sub">
            <a:extLst xmlns:a="http://schemas.openxmlformats.org/drawingml/2006/main">
              <a:ext uri="{FF2B5EF4-FFF2-40B4-BE49-F238E27FC236}">
                <a16:creationId xmlns:a16="http://schemas.microsoft.com/office/drawing/2014/main" id="{FCF06938-002B-4BAB-80F3-B0B0B84E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125,172 条城市日</a:t>
            </a:r>
          </a:p>
        </p:txBody>
      </p:sp>
      <p:sp>
        <p:nvSpPr>
          <p:cNvPr id="13" name="arch-aggregate">
            <a:extLst xmlns:a="http://schemas.openxmlformats.org/drawingml/2006/main">
              <a:ext uri="{FF2B5EF4-FFF2-40B4-BE49-F238E27FC236}">
                <a16:creationId xmlns:a16="http://schemas.microsoft.com/office/drawing/2014/main" id="{A3648C65-4F49-4FA1-A411-1DF67B95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14550"/>
            <a:ext cx="21336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4288">
            <a:solidFill>
              <a:srgbClr val="B7C9BF"/>
            </a:solidFill>
            <a:prstDash val="solid"/>
          </a:ln>
        </p:spPr>
      </p:sp>
      <p:sp>
        <p:nvSpPr>
          <p:cNvPr id="14" name="arch-aggregate-label">
            <a:extLst xmlns:a="http://schemas.openxmlformats.org/drawingml/2006/main">
              <a:ext uri="{FF2B5EF4-FFF2-40B4-BE49-F238E27FC236}">
                <a16:creationId xmlns:a16="http://schemas.microsoft.com/office/drawing/2014/main" id="{989AD56F-8833-4E27-A938-687F71E6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669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查询聚合</a:t>
            </a:r>
          </a:p>
        </p:txBody>
      </p:sp>
      <p:sp>
        <p:nvSpPr>
          <p:cNvPr id="15" name="arch-aggregate-sub">
            <a:extLst xmlns:a="http://schemas.openxmlformats.org/drawingml/2006/main">
              <a:ext uri="{FF2B5EF4-FFF2-40B4-BE49-F238E27FC236}">
                <a16:creationId xmlns:a16="http://schemas.microsoft.com/office/drawing/2014/main" id="{DFDE3FE5-06C4-464B-890D-D2DB5304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68605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按计划分组与统计</a:t>
            </a:r>
          </a:p>
        </p:txBody>
      </p:sp>
      <p:sp>
        <p:nvSpPr>
          <p:cNvPr id="19" name="arch-outputs">
            <a:extLst xmlns:a="http://schemas.openxmlformats.org/drawingml/2006/main">
              <a:ext uri="{FF2B5EF4-FFF2-40B4-BE49-F238E27FC236}">
                <a16:creationId xmlns:a16="http://schemas.microsoft.com/office/drawing/2014/main" id="{D5396815-C7A2-456A-B755-85A4A4EB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14800"/>
            <a:ext cx="21336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4288">
            <a:solidFill>
              <a:srgbClr val="B7C9BF"/>
            </a:solidFill>
            <a:prstDash val="solid"/>
          </a:ln>
        </p:spPr>
      </p:sp>
      <p:sp>
        <p:nvSpPr>
          <p:cNvPr id="20" name="arch-outputs-label">
            <a:extLst xmlns:a="http://schemas.openxmlformats.org/drawingml/2006/main">
              <a:ext uri="{FF2B5EF4-FFF2-40B4-BE49-F238E27FC236}">
                <a16:creationId xmlns:a16="http://schemas.microsoft.com/office/drawing/2014/main" id="{ABE628E1-FE68-41AC-8A77-EDCD2809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2672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SVG 与结果文件</a:t>
            </a:r>
          </a:p>
        </p:txBody>
      </p:sp>
      <p:sp>
        <p:nvSpPr>
          <p:cNvPr id="21" name="arch-outputs-sub">
            <a:extLst xmlns:a="http://schemas.openxmlformats.org/drawingml/2006/main">
              <a:ext uri="{FF2B5EF4-FFF2-40B4-BE49-F238E27FC236}">
                <a16:creationId xmlns:a16="http://schemas.microsoft.com/office/drawing/2014/main" id="{63613AD0-984C-431B-9FBE-FE88A57D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8630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JSON / CSV / HTML</a:t>
            </a:r>
          </a:p>
        </p:txBody>
      </p:sp>
      <p:sp>
        <p:nvSpPr>
          <p:cNvPr id="22" name="arch-validate">
            <a:extLst xmlns:a="http://schemas.openxmlformats.org/drawingml/2006/main">
              <a:ext uri="{FF2B5EF4-FFF2-40B4-BE49-F238E27FC236}">
                <a16:creationId xmlns:a16="http://schemas.microsoft.com/office/drawing/2014/main" id="{4372842B-D414-4BE1-8A49-4CB71B4A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14800"/>
            <a:ext cx="21336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4288">
            <a:solidFill>
              <a:srgbClr val="B7C9BF"/>
            </a:solidFill>
            <a:prstDash val="solid"/>
          </a:ln>
        </p:spPr>
      </p:sp>
      <p:sp>
        <p:nvSpPr>
          <p:cNvPr id="23" name="arch-validate-label">
            <a:extLst xmlns:a="http://schemas.openxmlformats.org/drawingml/2006/main">
              <a:ext uri="{FF2B5EF4-FFF2-40B4-BE49-F238E27FC236}">
                <a16:creationId xmlns:a16="http://schemas.microsoft.com/office/drawing/2014/main" id="{AAD00CA7-F50F-440E-899E-786B491E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672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结果校验</a:t>
            </a:r>
          </a:p>
        </p:txBody>
      </p:sp>
      <p:sp>
        <p:nvSpPr>
          <p:cNvPr id="24" name="arch-validate-sub">
            <a:extLst xmlns:a="http://schemas.openxmlformats.org/drawingml/2006/main">
              <a:ext uri="{FF2B5EF4-FFF2-40B4-BE49-F238E27FC236}">
                <a16:creationId xmlns:a16="http://schemas.microsoft.com/office/drawing/2014/main" id="{F6C38DDF-479F-4C62-9284-50E2F023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8630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分母 / 覆盖 / 文件</a:t>
            </a:r>
          </a:p>
        </p:txBody>
      </p:sp>
      <p:sp>
        <p:nvSpPr>
          <p:cNvPr id="25" name="arch-standard">
            <a:extLst xmlns:a="http://schemas.openxmlformats.org/drawingml/2006/main">
              <a:ext uri="{FF2B5EF4-FFF2-40B4-BE49-F238E27FC236}">
                <a16:creationId xmlns:a16="http://schemas.microsoft.com/office/drawing/2014/main" id="{7538174F-F74C-4BCD-9998-C105CBB0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14800"/>
            <a:ext cx="21336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4288">
            <a:solidFill>
              <a:srgbClr val="B7C9BF"/>
            </a:solidFill>
            <a:prstDash val="solid"/>
          </a:ln>
        </p:spPr>
      </p:sp>
      <p:sp>
        <p:nvSpPr>
          <p:cNvPr id="26" name="arch-standard-label">
            <a:extLst xmlns:a="http://schemas.openxmlformats.org/drawingml/2006/main">
              <a:ext uri="{FF2B5EF4-FFF2-40B4-BE49-F238E27FC236}">
                <a16:creationId xmlns:a16="http://schemas.microsoft.com/office/drawing/2014/main" id="{8B9649A4-7D6A-4A5F-A4AA-AA6F6166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2672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GB 口径对照</a:t>
            </a:r>
          </a:p>
        </p:txBody>
      </p:sp>
      <p:sp>
        <p:nvSpPr>
          <p:cNvPr id="27" name="arch-standard-sub">
            <a:extLst xmlns:a="http://schemas.openxmlformats.org/drawingml/2006/main">
              <a:ext uri="{FF2B5EF4-FFF2-40B4-BE49-F238E27FC236}">
                <a16:creationId xmlns:a16="http://schemas.microsoft.com/office/drawing/2014/main" id="{88A90A1B-E94E-4515-BB84-726434A4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68630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年均与日均分开</a:t>
            </a:r>
          </a:p>
        </p:txBody>
      </p:sp>
      <p:sp>
        <p:nvSpPr>
          <p:cNvPr id="31" name="arch-local-note">
            <a:extLst xmlns:a="http://schemas.openxmlformats.org/drawingml/2006/main">
              <a:ext uri="{FF2B5EF4-FFF2-40B4-BE49-F238E27FC236}">
                <a16:creationId xmlns:a16="http://schemas.microsoft.com/office/drawing/2014/main" id="{96D9A0F7-D3F9-4F66-8DDE-1260E7DF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959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244E43"/>
                </a:solidFill>
                <a:latin typeface="PingFang SC"/>
                <a:ea typeface="PingFang SC"/>
                <a:cs typeface="PingFang SC"/>
              </a:rPr>
              <a:t>统计 observation 实时返回模型；原始 CSV、计算过程与可复核结果保留在本机。</a:t>
            </a:r>
          </a:p>
        </p:txBody>
      </p:sp>
    </p:spTree>
    <p:extLst>
      <p:ext uri="{BB962C8B-B14F-4D97-AF65-F5344CB8AC3E}">
        <p14:creationId xmlns:p14="http://schemas.microsoft.com/office/powerpoint/2010/main" val="14969105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13793398-593A-4A11-B152-102005CD8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06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年均、日均与有效分母</a:t>
            </a:r>
          </a:p>
        </p:txBody>
      </p:sp>
      <p:sp>
        <p:nvSpPr>
          <p:cNvPr id="2" name="slide-5-accent">
            <a:extLst xmlns:a="http://schemas.openxmlformats.org/drawingml/2006/main">
              <a:ext uri="{FF2B5EF4-FFF2-40B4-BE49-F238E27FC236}">
                <a16:creationId xmlns:a16="http://schemas.microsoft.com/office/drawing/2014/main" id="{BD93A02E-5188-4856-8F94-A5417C5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57300"/>
            <a:ext cx="666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tandard-citation">
            <a:extLst xmlns:a="http://schemas.openxmlformats.org/drawingml/2006/main">
              <a:ext uri="{FF2B5EF4-FFF2-40B4-BE49-F238E27FC236}">
                <a16:creationId xmlns:a16="http://schemas.microsoft.com/office/drawing/2014/main" id="{A269E30B-35EC-4193-8F6D-239E3B9A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GB 3095—2012 二级，按赛事指定口径</a:t>
            </a:r>
          </a:p>
        </p:txBody>
      </p:sp>
      <p:sp>
        <p:nvSpPr>
          <p:cNvPr id="4" name="annual-number">
            <a:extLst xmlns:a="http://schemas.openxmlformats.org/drawingml/2006/main">
              <a:ext uri="{FF2B5EF4-FFF2-40B4-BE49-F238E27FC236}">
                <a16:creationId xmlns:a16="http://schemas.microsoft.com/office/drawing/2014/main" id="{C477C007-5A7F-4E3E-8E7B-15F99D07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81200"/>
            <a:ext cx="2476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66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66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66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66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66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66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66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66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66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66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66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6600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35</a:t>
            </a:r>
          </a:p>
        </p:txBody>
      </p:sp>
      <p:sp>
        <p:nvSpPr>
          <p:cNvPr id="5" name="annual-label">
            <a:extLst xmlns:a="http://schemas.openxmlformats.org/drawingml/2006/main">
              <a:ext uri="{FF2B5EF4-FFF2-40B4-BE49-F238E27FC236}">
                <a16:creationId xmlns:a16="http://schemas.microsoft.com/office/drawing/2014/main" id="{8DBE4A7C-E4E7-4294-AC0C-810BA50B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051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PM2.5 年均限值</a:t>
            </a:r>
          </a:p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单位：μg/m³</a:t>
            </a:r>
          </a:p>
        </p:txBody>
      </p:sp>
      <p:sp>
        <p:nvSpPr>
          <p:cNvPr id="6" name="threshold-divider">
            <a:extLst xmlns:a="http://schemas.openxmlformats.org/drawingml/2006/main">
              <a:ext uri="{FF2B5EF4-FFF2-40B4-BE49-F238E27FC236}">
                <a16:creationId xmlns:a16="http://schemas.microsoft.com/office/drawing/2014/main" id="{818B3281-B578-48BA-9829-78DE6969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981200"/>
            <a:ext cx="190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aily-number">
            <a:extLst xmlns:a="http://schemas.openxmlformats.org/drawingml/2006/main">
              <a:ext uri="{FF2B5EF4-FFF2-40B4-BE49-F238E27FC236}">
                <a16:creationId xmlns:a16="http://schemas.microsoft.com/office/drawing/2014/main" id="{58F6F860-C9EA-4579-976F-1D9789CB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81200"/>
            <a:ext cx="2476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66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66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66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66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66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66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66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66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66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66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66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66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75</a:t>
            </a:r>
          </a:p>
        </p:txBody>
      </p:sp>
      <p:sp>
        <p:nvSpPr>
          <p:cNvPr id="8" name="daily-label">
            <a:extLst xmlns:a="http://schemas.openxmlformats.org/drawingml/2006/main">
              <a:ext uri="{FF2B5EF4-FFF2-40B4-BE49-F238E27FC236}">
                <a16:creationId xmlns:a16="http://schemas.microsoft.com/office/drawing/2014/main" id="{313ADA7B-80B0-4F5E-93E1-E9392E76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0515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PM2.5 日均限值</a:t>
            </a:r>
          </a:p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单位：μg/m³</a:t>
            </a:r>
          </a:p>
        </p:txBody>
      </p:sp>
      <p:sp>
        <p:nvSpPr>
          <p:cNvPr id="9" name="denominator-heading">
            <a:extLst xmlns:a="http://schemas.openxmlformats.org/drawingml/2006/main">
              <a:ext uri="{FF2B5EF4-FFF2-40B4-BE49-F238E27FC236}">
                <a16:creationId xmlns:a16="http://schemas.microsoft.com/office/drawing/2014/main" id="{AF211169-4D91-4F3A-91CC-C7F7008E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缺失日不进入平均分母</a:t>
            </a:r>
          </a:p>
        </p:txBody>
      </p:sp>
      <p:sp>
        <p:nvSpPr>
          <p:cNvPr id="10" name="denominator-equation">
            <a:extLst xmlns:a="http://schemas.openxmlformats.org/drawingml/2006/main">
              <a:ext uri="{FF2B5EF4-FFF2-40B4-BE49-F238E27FC236}">
                <a16:creationId xmlns:a16="http://schemas.microsoft.com/office/drawing/2014/main" id="{911B8AB0-6E0D-4E8A-8B82-454245A0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5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5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5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5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5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5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5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5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5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(30 + 40 + 50) ÷ 3 = 40 μg/m³</a:t>
            </a:r>
          </a:p>
        </p:txBody>
      </p:sp>
      <p:sp>
        <p:nvSpPr>
          <p:cNvPr id="11" name="denominator-explanation">
            <a:extLst xmlns:a="http://schemas.openxmlformats.org/drawingml/2006/main">
              <a:ext uri="{FF2B5EF4-FFF2-40B4-BE49-F238E27FC236}">
                <a16:creationId xmlns:a16="http://schemas.microsoft.com/office/drawing/2014/main" id="{D3872BD9-3A31-4EF7-B51A-AB716614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828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三条有效日记录的口径演算示例，不代表本次数据结果。</a:t>
            </a:r>
          </a:p>
        </p:txBody>
      </p:sp>
      <p:sp>
        <p:nvSpPr>
          <p:cNvPr id="12" name="validity-note-block">
            <a:extLst xmlns:a="http://schemas.openxmlformats.org/drawingml/2006/main">
              <a:ext uri="{FF2B5EF4-FFF2-40B4-BE49-F238E27FC236}">
                <a16:creationId xmlns:a16="http://schemas.microsoft.com/office/drawing/2014/main" id="{E8B4A1E5-3A5A-4008-BC42-A073FD15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6299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validity-note">
            <a:extLst xmlns:a="http://schemas.openxmlformats.org/drawingml/2006/main">
              <a:ext uri="{FF2B5EF4-FFF2-40B4-BE49-F238E27FC236}">
                <a16:creationId xmlns:a16="http://schemas.microsoft.com/office/drawing/2014/main" id="{C6CA1D1E-7FC4-4BCA-91E0-E76024D1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19750"/>
            <a:ext cx="10144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年度有效性：全年至少 324 个有效日，且各月达到完整月要求（2 月至少 25 日，其余月份至少 27 日）。不足时不作年度判定。</a:t>
            </a:r>
          </a:p>
        </p:txBody>
      </p:sp>
    </p:spTree>
    <p:extLst>
      <p:ext uri="{BB962C8B-B14F-4D97-AF65-F5344CB8AC3E}">
        <p14:creationId xmlns:p14="http://schemas.microsoft.com/office/powerpoint/2010/main" val="12538539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53D25F1C-1825-4F80-BCBF-6830B1DE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06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真实 DeepSeek 结果：2024 PM2.5 年均 Top 5</a:t>
            </a:r>
          </a:p>
        </p:txBody>
      </p:sp>
      <p:sp>
        <p:nvSpPr>
          <p:cNvPr id="2" name="slide-6-accent">
            <a:extLst xmlns:a="http://schemas.openxmlformats.org/drawingml/2006/main">
              <a:ext uri="{FF2B5EF4-FFF2-40B4-BE49-F238E27FC236}">
                <a16:creationId xmlns:a16="http://schemas.microsoft.com/office/drawing/2014/main" id="{232D3A63-1F04-4A88-A53B-EA187B85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57300"/>
            <a:ext cx="666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result-scope">
            <a:extLst xmlns:a="http://schemas.openxmlformats.org/drawingml/2006/main">
              <a:ext uri="{FF2B5EF4-FFF2-40B4-BE49-F238E27FC236}">
                <a16:creationId xmlns:a16="http://schemas.microsoft.com/office/drawing/2014/main" id="{998680D6-1FD2-45B5-ADA0-7BA9BC2C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10629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125,172 城市日  ·  342 个活跃地区  ·  367/367 份小时数据文件  ·  deepseek-flash</a:t>
            </a:r>
          </a:p>
        </p:txBody>
      </p:sp>
      <p:sp>
        <p:nvSpPr>
          <p:cNvPr id="4" name="result-ranking-card">
            <a:extLst xmlns:a="http://schemas.openxmlformats.org/drawingml/2006/main">
              <a:ext uri="{FF2B5EF4-FFF2-40B4-BE49-F238E27FC236}">
                <a16:creationId xmlns:a16="http://schemas.microsoft.com/office/drawing/2014/main" id="{92E7970E-0FA8-4D9D-A862-64F50F89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4953000" cy="3486150"/>
          </a:xfrm>
          <a:prstGeom xmlns:a="http://schemas.openxmlformats.org/drawingml/2006/main" prst="roundRect">
            <a:avLst>
              <a:gd name="adj" fmla="val 3825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B7C9BF"/>
            </a:solidFill>
            <a:prstDash val="solid"/>
          </a:ln>
        </p:spPr>
      </p:sp>
      <p:sp>
        <p:nvSpPr>
          <p:cNvPr id="5" name="result-chart-title">
            <a:extLst xmlns:a="http://schemas.openxmlformats.org/drawingml/2006/main">
              <a:ext uri="{FF2B5EF4-FFF2-40B4-BE49-F238E27FC236}">
                <a16:creationId xmlns:a16="http://schemas.microsoft.com/office/drawing/2014/main" id="{BF34711F-0B5B-4CE6-9A0B-834E5FEF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66925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PM2.5 年均值</a:t>
            </a:r>
          </a:p>
        </p:txBody>
      </p:sp>
      <p:sp>
        <p:nvSpPr>
          <p:cNvPr id="6" name="result-chart-unit">
            <a:extLst xmlns:a="http://schemas.openxmlformats.org/drawingml/2006/main">
              <a:ext uri="{FF2B5EF4-FFF2-40B4-BE49-F238E27FC236}">
                <a16:creationId xmlns:a16="http://schemas.microsoft.com/office/drawing/2014/main" id="{64F5F0DE-518F-48B2-AAD6-0835E2DE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89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μg/m³</a:t>
            </a:r>
          </a:p>
        </p:txBody>
      </p:sp>
      <p:sp>
        <p:nvSpPr>
          <p:cNvPr id="7" name="result-chart-scale">
            <a:extLst xmlns:a="http://schemas.openxmlformats.org/drawingml/2006/main">
              <a:ext uri="{FF2B5EF4-FFF2-40B4-BE49-F238E27FC236}">
                <a16:creationId xmlns:a16="http://schemas.microsoft.com/office/drawing/2014/main" id="{D78DDC60-3309-44F6-B440-EC2A761A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400300"/>
            <a:ext cx="228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0</a:t>
            </a:r>
          </a:p>
        </p:txBody>
      </p:sp>
      <p:sp>
        <p:nvSpPr>
          <p:cNvPr id="8" name="result-threshold-scale">
            <a:extLst xmlns:a="http://schemas.openxmlformats.org/drawingml/2006/main">
              <a:ext uri="{FF2B5EF4-FFF2-40B4-BE49-F238E27FC236}">
                <a16:creationId xmlns:a16="http://schemas.microsoft.com/office/drawing/2014/main" id="{7A1462A6-0E02-463E-A80A-1907BE21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400300"/>
            <a:ext cx="304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D8AD67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1">
                <a:solidFill>
                  <a:srgbClr val="D8AD67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1">
                <a:solidFill>
                  <a:srgbClr val="D8AD67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1">
                <a:solidFill>
                  <a:srgbClr val="D8AD67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1">
                <a:solidFill>
                  <a:srgbClr val="D8AD67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1">
                <a:solidFill>
                  <a:srgbClr val="D8AD67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1">
                <a:solidFill>
                  <a:srgbClr val="D8AD67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1">
                <a:solidFill>
                  <a:srgbClr val="D8AD67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1">
                <a:solidFill>
                  <a:srgbClr val="D8AD67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1">
                <a:solidFill>
                  <a:srgbClr val="D8AD6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1">
                <a:solidFill>
                  <a:srgbClr val="D8AD6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D8AD67"/>
                </a:solidFill>
                <a:latin typeface="PingFang SC"/>
                <a:ea typeface="PingFang SC"/>
                <a:cs typeface="PingFang SC"/>
              </a:rPr>
              <a:t>35</a:t>
            </a:r>
          </a:p>
        </p:txBody>
      </p:sp>
      <p:sp>
        <p:nvSpPr>
          <p:cNvPr id="9" name="result-chart-max">
            <a:extLst xmlns:a="http://schemas.openxmlformats.org/drawingml/2006/main">
              <a:ext uri="{FF2B5EF4-FFF2-40B4-BE49-F238E27FC236}">
                <a16:creationId xmlns:a16="http://schemas.microsoft.com/office/drawing/2014/main" id="{6320F6F7-F9C7-488E-BA08-AA05CE48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40030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100</a:t>
            </a:r>
          </a:p>
        </p:txBody>
      </p:sp>
      <p:sp>
        <p:nvSpPr>
          <p:cNvPr id="10" name="result-threshold-line">
            <a:extLst xmlns:a="http://schemas.openxmlformats.org/drawingml/2006/main">
              <a:ext uri="{FF2B5EF4-FFF2-40B4-BE49-F238E27FC236}">
                <a16:creationId xmlns:a16="http://schemas.microsoft.com/office/drawing/2014/main" id="{DB23B280-B7D1-44A8-AB9D-5503577C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220" y="2609850"/>
            <a:ext cx="1905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D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sult-rank-1">
            <a:extLst xmlns:a="http://schemas.openxmlformats.org/drawingml/2006/main">
              <a:ext uri="{FF2B5EF4-FFF2-40B4-BE49-F238E27FC236}">
                <a16:creationId xmlns:a16="http://schemas.microsoft.com/office/drawing/2014/main" id="{69D12744-49F4-43FE-8B01-EFC2A115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2695575"/>
            <a:ext cx="295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2" name="result-city-1">
            <a:extLst xmlns:a="http://schemas.openxmlformats.org/drawingml/2006/main">
              <a:ext uri="{FF2B5EF4-FFF2-40B4-BE49-F238E27FC236}">
                <a16:creationId xmlns:a16="http://schemas.microsoft.com/office/drawing/2014/main" id="{375CFABA-FF33-4B65-A4EE-4DEC30E0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860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和田地区</a:t>
            </a:r>
          </a:p>
        </p:txBody>
      </p:sp>
      <p:sp>
        <p:nvSpPr>
          <p:cNvPr id="13" name="result-bar-track-1">
            <a:extLst xmlns:a="http://schemas.openxmlformats.org/drawingml/2006/main">
              <a:ext uri="{FF2B5EF4-FFF2-40B4-BE49-F238E27FC236}">
                <a16:creationId xmlns:a16="http://schemas.microsoft.com/office/drawing/2014/main" id="{A1DB03B3-C868-49F3-BFC8-A6B2F650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09875"/>
            <a:ext cx="1219200" cy="1333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esult-bar-1">
            <a:extLst xmlns:a="http://schemas.openxmlformats.org/drawingml/2006/main">
              <a:ext uri="{FF2B5EF4-FFF2-40B4-BE49-F238E27FC236}">
                <a16:creationId xmlns:a16="http://schemas.microsoft.com/office/drawing/2014/main" id="{0010C531-2F24-4F4C-8A4C-EEEA64E1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09875"/>
            <a:ext cx="1077651" cy="1333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A9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sult-mean-1">
            <a:extLst xmlns:a="http://schemas.openxmlformats.org/drawingml/2006/main">
              <a:ext uri="{FF2B5EF4-FFF2-40B4-BE49-F238E27FC236}">
                <a16:creationId xmlns:a16="http://schemas.microsoft.com/office/drawing/2014/main" id="{D9B1D9DF-6D73-4E5F-A2F1-F59281B1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9557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88.39</a:t>
            </a:r>
          </a:p>
        </p:txBody>
      </p:sp>
      <p:sp>
        <p:nvSpPr>
          <p:cNvPr id="16" name="result-days-1">
            <a:extLst xmlns:a="http://schemas.openxmlformats.org/drawingml/2006/main">
              <a:ext uri="{FF2B5EF4-FFF2-40B4-BE49-F238E27FC236}">
                <a16:creationId xmlns:a16="http://schemas.microsoft.com/office/drawing/2014/main" id="{E2C80F2D-DAD1-455F-BE59-36919929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361/366 日</a:t>
            </a:r>
          </a:p>
        </p:txBody>
      </p:sp>
      <p:sp>
        <p:nvSpPr>
          <p:cNvPr id="17" name="result-rank-2">
            <a:extLst xmlns:a="http://schemas.openxmlformats.org/drawingml/2006/main">
              <a:ext uri="{FF2B5EF4-FFF2-40B4-BE49-F238E27FC236}">
                <a16:creationId xmlns:a16="http://schemas.microsoft.com/office/drawing/2014/main" id="{D02B8D5C-F2B7-4478-9581-448F8754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162300"/>
            <a:ext cx="295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8" name="result-city-2">
            <a:extLst xmlns:a="http://schemas.openxmlformats.org/drawingml/2006/main">
              <a:ext uri="{FF2B5EF4-FFF2-40B4-BE49-F238E27FC236}">
                <a16:creationId xmlns:a16="http://schemas.microsoft.com/office/drawing/2014/main" id="{46A5A46C-1D10-42D3-99F5-BE71C59A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5277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喀什地区</a:t>
            </a:r>
          </a:p>
        </p:txBody>
      </p:sp>
      <p:sp>
        <p:nvSpPr>
          <p:cNvPr id="19" name="result-bar-track-2">
            <a:extLst xmlns:a="http://schemas.openxmlformats.org/drawingml/2006/main">
              <a:ext uri="{FF2B5EF4-FFF2-40B4-BE49-F238E27FC236}">
                <a16:creationId xmlns:a16="http://schemas.microsoft.com/office/drawing/2014/main" id="{02C018AF-9211-4B7F-8799-E4846580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76600"/>
            <a:ext cx="1219200" cy="1333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sult-bar-2">
            <a:extLst xmlns:a="http://schemas.openxmlformats.org/drawingml/2006/main">
              <a:ext uri="{FF2B5EF4-FFF2-40B4-BE49-F238E27FC236}">
                <a16:creationId xmlns:a16="http://schemas.microsoft.com/office/drawing/2014/main" id="{0FA7E25D-3FA4-4D1E-90D5-345504DC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76600"/>
            <a:ext cx="734812" cy="1333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A9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result-mean-2">
            <a:extLst xmlns:a="http://schemas.openxmlformats.org/drawingml/2006/main">
              <a:ext uri="{FF2B5EF4-FFF2-40B4-BE49-F238E27FC236}">
                <a16:creationId xmlns:a16="http://schemas.microsoft.com/office/drawing/2014/main" id="{9D056223-8C2C-4C9D-960C-26A26084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162300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60.27</a:t>
            </a:r>
          </a:p>
        </p:txBody>
      </p:sp>
      <p:sp>
        <p:nvSpPr>
          <p:cNvPr id="22" name="result-days-2">
            <a:extLst xmlns:a="http://schemas.openxmlformats.org/drawingml/2006/main">
              <a:ext uri="{FF2B5EF4-FFF2-40B4-BE49-F238E27FC236}">
                <a16:creationId xmlns:a16="http://schemas.microsoft.com/office/drawing/2014/main" id="{2E2350F5-5E87-4C81-823F-5C206E40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419475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361/366 日</a:t>
            </a:r>
          </a:p>
        </p:txBody>
      </p:sp>
      <p:sp>
        <p:nvSpPr>
          <p:cNvPr id="23" name="result-rank-3">
            <a:extLst xmlns:a="http://schemas.openxmlformats.org/drawingml/2006/main">
              <a:ext uri="{FF2B5EF4-FFF2-40B4-BE49-F238E27FC236}">
                <a16:creationId xmlns:a16="http://schemas.microsoft.com/office/drawing/2014/main" id="{BAF89393-A899-4D70-8830-83336A87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629025"/>
            <a:ext cx="295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4" name="result-city-3">
            <a:extLst xmlns:a="http://schemas.openxmlformats.org/drawingml/2006/main">
              <a:ext uri="{FF2B5EF4-FFF2-40B4-BE49-F238E27FC236}">
                <a16:creationId xmlns:a16="http://schemas.microsoft.com/office/drawing/2014/main" id="{EDC344E6-33CA-4C36-9066-D53C8281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1950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958"/>
          </a:bodyPr>
          <a:lstStyle xmlns:a="http://schemas.openxmlformats.org/drawingml/2006/main">
            <a:defPPr algn="l">
              <a:defRPr sz="12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克孜勒苏柯尔克孜自治州</a:t>
            </a:r>
          </a:p>
        </p:txBody>
      </p:sp>
      <p:sp>
        <p:nvSpPr>
          <p:cNvPr id="25" name="result-bar-track-3">
            <a:extLst xmlns:a="http://schemas.openxmlformats.org/drawingml/2006/main">
              <a:ext uri="{FF2B5EF4-FFF2-40B4-BE49-F238E27FC236}">
                <a16:creationId xmlns:a16="http://schemas.microsoft.com/office/drawing/2014/main" id="{DE77CAD5-DDBA-45C2-BC32-3EC69FDD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43325"/>
            <a:ext cx="1219200" cy="1333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result-bar-3">
            <a:extLst xmlns:a="http://schemas.openxmlformats.org/drawingml/2006/main">
              <a:ext uri="{FF2B5EF4-FFF2-40B4-BE49-F238E27FC236}">
                <a16:creationId xmlns:a16="http://schemas.microsoft.com/office/drawing/2014/main" id="{3D1021C8-B917-47EF-8BC3-28C57CE8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43325"/>
            <a:ext cx="654345" cy="1333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A9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result-mean-3">
            <a:extLst xmlns:a="http://schemas.openxmlformats.org/drawingml/2006/main">
              <a:ext uri="{FF2B5EF4-FFF2-40B4-BE49-F238E27FC236}">
                <a16:creationId xmlns:a16="http://schemas.microsoft.com/office/drawing/2014/main" id="{BB580F0B-41C1-4625-AEB4-4045822C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2902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53.67</a:t>
            </a:r>
          </a:p>
        </p:txBody>
      </p:sp>
      <p:sp>
        <p:nvSpPr>
          <p:cNvPr id="28" name="result-days-3">
            <a:extLst xmlns:a="http://schemas.openxmlformats.org/drawingml/2006/main">
              <a:ext uri="{FF2B5EF4-FFF2-40B4-BE49-F238E27FC236}">
                <a16:creationId xmlns:a16="http://schemas.microsoft.com/office/drawing/2014/main" id="{C5354021-DB7E-4D6F-886C-2CE094C1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862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361/366 日</a:t>
            </a:r>
          </a:p>
        </p:txBody>
      </p:sp>
      <p:sp>
        <p:nvSpPr>
          <p:cNvPr id="29" name="result-rank-4">
            <a:extLst xmlns:a="http://schemas.openxmlformats.org/drawingml/2006/main">
              <a:ext uri="{FF2B5EF4-FFF2-40B4-BE49-F238E27FC236}">
                <a16:creationId xmlns:a16="http://schemas.microsoft.com/office/drawing/2014/main" id="{96196372-63C0-4382-8879-D9574871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095750"/>
            <a:ext cx="295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0" name="result-city-4">
            <a:extLst xmlns:a="http://schemas.openxmlformats.org/drawingml/2006/main">
              <a:ext uri="{FF2B5EF4-FFF2-40B4-BE49-F238E27FC236}">
                <a16:creationId xmlns:a16="http://schemas.microsoft.com/office/drawing/2014/main" id="{88CB2F59-DE8F-42F5-A292-0EC883E7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86225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安阳</a:t>
            </a:r>
          </a:p>
        </p:txBody>
      </p:sp>
      <p:sp>
        <p:nvSpPr>
          <p:cNvPr id="31" name="result-bar-track-4">
            <a:extLst xmlns:a="http://schemas.openxmlformats.org/drawingml/2006/main">
              <a:ext uri="{FF2B5EF4-FFF2-40B4-BE49-F238E27FC236}">
                <a16:creationId xmlns:a16="http://schemas.microsoft.com/office/drawing/2014/main" id="{9E6AB69E-79F6-4519-9D8A-4C36C845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0050"/>
            <a:ext cx="1219200" cy="1333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result-bar-4">
            <a:extLst xmlns:a="http://schemas.openxmlformats.org/drawingml/2006/main">
              <a:ext uri="{FF2B5EF4-FFF2-40B4-BE49-F238E27FC236}">
                <a16:creationId xmlns:a16="http://schemas.microsoft.com/office/drawing/2014/main" id="{A3F07635-6334-4D6A-AFE2-41A18ABC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0050"/>
            <a:ext cx="616062" cy="1333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A9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result-mean-4">
            <a:extLst xmlns:a="http://schemas.openxmlformats.org/drawingml/2006/main">
              <a:ext uri="{FF2B5EF4-FFF2-40B4-BE49-F238E27FC236}">
                <a16:creationId xmlns:a16="http://schemas.microsoft.com/office/drawing/2014/main" id="{BC0DD679-6329-4B16-A6DC-1E8C458C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95750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50.53</a:t>
            </a:r>
          </a:p>
        </p:txBody>
      </p:sp>
      <p:sp>
        <p:nvSpPr>
          <p:cNvPr id="34" name="result-days-4">
            <a:extLst xmlns:a="http://schemas.openxmlformats.org/drawingml/2006/main">
              <a:ext uri="{FF2B5EF4-FFF2-40B4-BE49-F238E27FC236}">
                <a16:creationId xmlns:a16="http://schemas.microsoft.com/office/drawing/2014/main" id="{07F33D78-D592-44E6-B45B-CB36C95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52925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361/366 日</a:t>
            </a:r>
          </a:p>
        </p:txBody>
      </p:sp>
      <p:sp>
        <p:nvSpPr>
          <p:cNvPr id="35" name="result-rank-5">
            <a:extLst xmlns:a="http://schemas.openxmlformats.org/drawingml/2006/main">
              <a:ext uri="{FF2B5EF4-FFF2-40B4-BE49-F238E27FC236}">
                <a16:creationId xmlns:a16="http://schemas.microsoft.com/office/drawing/2014/main" id="{A02642C3-AD5B-4491-9D46-09258B65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562475"/>
            <a:ext cx="295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36" name="result-city-5">
            <a:extLst xmlns:a="http://schemas.openxmlformats.org/drawingml/2006/main">
              <a:ext uri="{FF2B5EF4-FFF2-40B4-BE49-F238E27FC236}">
                <a16:creationId xmlns:a16="http://schemas.microsoft.com/office/drawing/2014/main" id="{D9440BD6-4215-48BB-B4FE-AB1EDDA3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529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鹤壁</a:t>
            </a:r>
          </a:p>
        </p:txBody>
      </p:sp>
      <p:sp>
        <p:nvSpPr>
          <p:cNvPr id="37" name="result-bar-track-5">
            <a:extLst xmlns:a="http://schemas.openxmlformats.org/drawingml/2006/main">
              <a:ext uri="{FF2B5EF4-FFF2-40B4-BE49-F238E27FC236}">
                <a16:creationId xmlns:a16="http://schemas.microsoft.com/office/drawing/2014/main" id="{E9009F66-88CC-458E-A61C-3989AC79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76775"/>
            <a:ext cx="1219200" cy="1333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7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result-bar-5">
            <a:extLst xmlns:a="http://schemas.openxmlformats.org/drawingml/2006/main">
              <a:ext uri="{FF2B5EF4-FFF2-40B4-BE49-F238E27FC236}">
                <a16:creationId xmlns:a16="http://schemas.microsoft.com/office/drawing/2014/main" id="{8AE8718D-6BA9-4CA3-8CE3-AB1F9A66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76775"/>
            <a:ext cx="612892" cy="1333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A9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result-mean-5">
            <a:extLst xmlns:a="http://schemas.openxmlformats.org/drawingml/2006/main">
              <a:ext uri="{FF2B5EF4-FFF2-40B4-BE49-F238E27FC236}">
                <a16:creationId xmlns:a16="http://schemas.microsoft.com/office/drawing/2014/main" id="{FBEEDD2E-198F-4045-888E-BD515B00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62475"/>
            <a:ext cx="742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50.27</a:t>
            </a:r>
          </a:p>
        </p:txBody>
      </p:sp>
      <p:sp>
        <p:nvSpPr>
          <p:cNvPr id="40" name="result-days-5">
            <a:extLst xmlns:a="http://schemas.openxmlformats.org/drawingml/2006/main">
              <a:ext uri="{FF2B5EF4-FFF2-40B4-BE49-F238E27FC236}">
                <a16:creationId xmlns:a16="http://schemas.microsoft.com/office/drawing/2014/main" id="{B42BBAF7-8EC8-47B0-966E-27E20FD4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1965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def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361/366 日</a:t>
            </a:r>
          </a:p>
        </p:txBody>
      </p:sp>
      <p:sp>
        <p:nvSpPr>
          <p:cNvPr id="41" name="result-validity-callout">
            <a:extLst xmlns:a="http://schemas.openxmlformats.org/drawingml/2006/main">
              <a:ext uri="{FF2B5EF4-FFF2-40B4-BE49-F238E27FC236}">
                <a16:creationId xmlns:a16="http://schemas.microsoft.com/office/drawing/2014/main" id="{BE4F72FB-0E3D-4253-A4D5-003A91A5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5105400"/>
            <a:ext cx="451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13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13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13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13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13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13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13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13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13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13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13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313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5/5 满足年度有效性门槛，且均超过 35 年均限值</a:t>
            </a:r>
          </a:p>
        </p:txBody>
      </p:sp>
      <p:sp>
        <p:nvSpPr>
          <p:cNvPr id="42" name="result-execution-note">
            <a:extLst xmlns:a="http://schemas.openxmlformats.org/drawingml/2006/main">
              <a:ext uri="{FF2B5EF4-FFF2-40B4-BE49-F238E27FC236}">
                <a16:creationId xmlns:a16="http://schemas.microsoft.com/office/drawing/2014/main" id="{B501B828-6271-4B85-93A6-A58E96D4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5467350"/>
            <a:ext cx="451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3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3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3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3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3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3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3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3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3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真实 API 用时 4.88 秒  ·  5 次模型工具调用</a:t>
            </a:r>
          </a:p>
        </p:txBody>
      </p:sp>
      <p:sp>
        <p:nvSpPr>
          <p:cNvPr id="43" name="result-screenshot-frame">
            <a:extLst xmlns:a="http://schemas.openxmlformats.org/drawingml/2006/main">
              <a:ext uri="{FF2B5EF4-FFF2-40B4-BE49-F238E27FC236}">
                <a16:creationId xmlns:a16="http://schemas.microsoft.com/office/drawing/2014/main" id="{C453DF5D-1E7A-4A1F-8117-115D64C7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43100"/>
            <a:ext cx="5410200" cy="4152900"/>
          </a:xfrm>
          <a:prstGeom xmlns:a="http://schemas.openxmlformats.org/drawingml/2006/main" prst="roundRect">
            <a:avLst>
              <a:gd name="adj" fmla="val 2752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9525">
            <a:solidFill>
              <a:srgbClr val="B7C9BF"/>
            </a:solidFill>
            <a:prstDash val="solid"/>
          </a:ln>
        </p:spPr>
      </p:sp>
      <p:pic>
        <p:nvPic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9E325A-4F2C-459C-9ABB-A403C997E6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ea0bc043f3411e"/>
          <a:stretch xmlns:a="http://schemas.openxmlformats.org/drawingml/2006/main"/>
        </p:blipFill>
        <p:spPr>
          <a:xfrm xmlns:a="http://schemas.openxmlformats.org/drawingml/2006/main">
            <a:off x="6081453" y="2000250"/>
            <a:ext cx="5286895" cy="4038600"/>
          </a:xfrm>
          <a:prstGeom xmlns:a="http://schemas.openxmlformats.org/drawingml/2006/main" prst="roundRect">
            <a:avLst>
              <a:gd name="adj" fmla="val 1887"/>
            </a:avLst>
          </a:prstGeom>
        </p:spPr>
      </p:pic>
      <p:sp>
        <p:nvSpPr>
          <p:cNvPr id="45" name="result-source-note">
            <a:extLst xmlns:a="http://schemas.openxmlformats.org/drawingml/2006/main">
              <a:ext uri="{FF2B5EF4-FFF2-40B4-BE49-F238E27FC236}">
                <a16:creationId xmlns:a16="http://schemas.microsoft.com/office/drawing/2014/main" id="{2A556385-637C-49C6-A5A5-9864B935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72200"/>
            <a:ext cx="1064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38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>
                <a:solidFill>
                  <a:srgbClr val="244E43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>
                <a:solidFill>
                  <a:srgbClr val="244E43"/>
                </a:solidFill>
                <a:latin typeface="PingFang SC"/>
                <a:ea typeface="PingFang SC"/>
                <a:cs typeface="PingFang SC"/>
              </a:rPr>
              <a:t>来源：中国环境监测总站城市小时数据 · Quotsoft 公开历史归档</a:t>
            </a:r>
          </a:p>
        </p:txBody>
      </p:sp>
      <p:sp>
        <p:nvSpPr>
          <p:cNvPr id="46" name="result-aqi-note">
            <a:extLst xmlns:a="http://schemas.openxmlformats.org/drawingml/2006/main">
              <a:ext uri="{FF2B5EF4-FFF2-40B4-BE49-F238E27FC236}">
                <a16:creationId xmlns:a16="http://schemas.microsoft.com/office/drawing/2014/main" id="{390EE73C-0A00-4932-B798-C991C9EF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400800"/>
            <a:ext cx="1064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38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238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238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238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238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238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238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238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238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238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238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AQI：按 HJ 633 由小时浓度派生，120,859 条有效；作为本地派生指标。</a:t>
            </a:r>
          </a:p>
        </p:txBody>
      </p:sp>
    </p:spTree>
    <p:extLst>
      <p:ext uri="{BB962C8B-B14F-4D97-AF65-F5344CB8AC3E}">
        <p14:creationId xmlns:p14="http://schemas.microsoft.com/office/powerpoint/2010/main" val="1068485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53D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4A7B6922-661F-4A60-8E16-0728777B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06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答辩评分维度与作品亮点</a:t>
            </a:r>
          </a:p>
        </p:txBody>
      </p:sp>
      <p:sp>
        <p:nvSpPr>
          <p:cNvPr id="2" name="slide-7-accent">
            <a:extLst xmlns:a="http://schemas.openxmlformats.org/drawingml/2006/main">
              <a:ext uri="{FF2B5EF4-FFF2-40B4-BE49-F238E27FC236}">
                <a16:creationId xmlns:a16="http://schemas.microsoft.com/office/drawing/2014/main" id="{613DFB35-485A-4A1C-854B-E482768B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57300"/>
            <a:ext cx="666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core-1-weight">
            <a:extLst xmlns:a="http://schemas.openxmlformats.org/drawingml/2006/main">
              <a:ext uri="{FF2B5EF4-FFF2-40B4-BE49-F238E27FC236}">
                <a16:creationId xmlns:a16="http://schemas.microsoft.com/office/drawing/2014/main" id="{CC9CDBD8-37C5-488B-9728-D480F6C8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0495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20%</a:t>
            </a:r>
          </a:p>
        </p:txBody>
      </p:sp>
      <p:sp>
        <p:nvSpPr>
          <p:cNvPr id="4" name="score-1-name">
            <a:extLst xmlns:a="http://schemas.openxmlformats.org/drawingml/2006/main">
              <a:ext uri="{FF2B5EF4-FFF2-40B4-BE49-F238E27FC236}">
                <a16:creationId xmlns:a16="http://schemas.microsoft.com/office/drawing/2014/main" id="{B0F7FAE5-290C-4EA7-94BB-40B351B1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504950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需求思考与完成度</a:t>
            </a:r>
          </a:p>
        </p:txBody>
      </p:sp>
      <p:sp>
        <p:nvSpPr>
          <p:cNvPr id="5" name="score-1-evidence">
            <a:extLst xmlns:a="http://schemas.openxmlformats.org/drawingml/2006/main">
              <a:ext uri="{FF2B5EF4-FFF2-40B4-BE49-F238E27FC236}">
                <a16:creationId xmlns:a16="http://schemas.microsoft.com/office/drawing/2014/main" id="{37EC142D-F51F-4E07-A291-358F8C47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049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题目核心需求覆盖情况</a:t>
            </a:r>
          </a:p>
        </p:txBody>
      </p:sp>
      <p:sp>
        <p:nvSpPr>
          <p:cNvPr id="6" name="score-1-rule">
            <a:extLst xmlns:a="http://schemas.openxmlformats.org/drawingml/2006/main">
              <a:ext uri="{FF2B5EF4-FFF2-40B4-BE49-F238E27FC236}">
                <a16:creationId xmlns:a16="http://schemas.microsoft.com/office/drawing/2014/main" id="{B52D7EDB-69D7-44A9-96AF-A8AF9C1F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000250"/>
            <a:ext cx="93154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core-2-weight">
            <a:extLst xmlns:a="http://schemas.openxmlformats.org/drawingml/2006/main">
              <a:ext uri="{FF2B5EF4-FFF2-40B4-BE49-F238E27FC236}">
                <a16:creationId xmlns:a16="http://schemas.microsoft.com/office/drawing/2014/main" id="{A56FFA84-7B80-4FA9-968D-A9CA3BE3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574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20%</a:t>
            </a:r>
          </a:p>
        </p:txBody>
      </p:sp>
      <p:sp>
        <p:nvSpPr>
          <p:cNvPr id="8" name="score-2-name">
            <a:extLst xmlns:a="http://schemas.openxmlformats.org/drawingml/2006/main">
              <a:ext uri="{FF2B5EF4-FFF2-40B4-BE49-F238E27FC236}">
                <a16:creationId xmlns:a16="http://schemas.microsoft.com/office/drawing/2014/main" id="{8A4A57E2-0968-47A4-88A6-E1421B6E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257425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Harness 过程与系统架构合理性</a:t>
            </a:r>
          </a:p>
        </p:txBody>
      </p:sp>
      <p:sp>
        <p:nvSpPr>
          <p:cNvPr id="9" name="score-2-evidence">
            <a:extLst xmlns:a="http://schemas.openxmlformats.org/drawingml/2006/main">
              <a:ext uri="{FF2B5EF4-FFF2-40B4-BE49-F238E27FC236}">
                <a16:creationId xmlns:a16="http://schemas.microsoft.com/office/drawing/2014/main" id="{2A63CABD-F2A1-43E5-96CA-1FCAC3DB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574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模块边界、工具调用与集成关系</a:t>
            </a:r>
          </a:p>
        </p:txBody>
      </p:sp>
      <p:sp>
        <p:nvSpPr>
          <p:cNvPr id="10" name="score-2-rule">
            <a:extLst xmlns:a="http://schemas.openxmlformats.org/drawingml/2006/main">
              <a:ext uri="{FF2B5EF4-FFF2-40B4-BE49-F238E27FC236}">
                <a16:creationId xmlns:a16="http://schemas.microsoft.com/office/drawing/2014/main" id="{53E7AB82-138D-4A37-92E5-D5D323B1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752725"/>
            <a:ext cx="93154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core-3-weight">
            <a:extLst xmlns:a="http://schemas.openxmlformats.org/drawingml/2006/main">
              <a:ext uri="{FF2B5EF4-FFF2-40B4-BE49-F238E27FC236}">
                <a16:creationId xmlns:a16="http://schemas.microsoft.com/office/drawing/2014/main" id="{2569E1B4-E234-45CA-9B4E-E7BABA1C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15%</a:t>
            </a:r>
          </a:p>
        </p:txBody>
      </p:sp>
      <p:sp>
        <p:nvSpPr>
          <p:cNvPr id="12" name="score-3-name">
            <a:extLst xmlns:a="http://schemas.openxmlformats.org/drawingml/2006/main">
              <a:ext uri="{FF2B5EF4-FFF2-40B4-BE49-F238E27FC236}">
                <a16:creationId xmlns:a16="http://schemas.microsoft.com/office/drawing/2014/main" id="{3480D885-090C-43E2-BBAB-D6106866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009900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功能测试覆盖率</a:t>
            </a:r>
          </a:p>
        </p:txBody>
      </p:sp>
      <p:sp>
        <p:nvSpPr>
          <p:cNvPr id="13" name="score-3-evidence">
            <a:extLst xmlns:a="http://schemas.openxmlformats.org/drawingml/2006/main">
              <a:ext uri="{FF2B5EF4-FFF2-40B4-BE49-F238E27FC236}">
                <a16:creationId xmlns:a16="http://schemas.microsoft.com/office/drawing/2014/main" id="{32306738-6230-4832-953B-2E058C54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099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核心功能用例与运行证据</a:t>
            </a:r>
          </a:p>
        </p:txBody>
      </p:sp>
      <p:sp>
        <p:nvSpPr>
          <p:cNvPr id="14" name="score-3-rule">
            <a:extLst xmlns:a="http://schemas.openxmlformats.org/drawingml/2006/main">
              <a:ext uri="{FF2B5EF4-FFF2-40B4-BE49-F238E27FC236}">
                <a16:creationId xmlns:a16="http://schemas.microsoft.com/office/drawing/2014/main" id="{899F9714-16B1-4830-918C-C148E1D0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505200"/>
            <a:ext cx="93154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core-4-weight">
            <a:extLst xmlns:a="http://schemas.openxmlformats.org/drawingml/2006/main">
              <a:ext uri="{FF2B5EF4-FFF2-40B4-BE49-F238E27FC236}">
                <a16:creationId xmlns:a16="http://schemas.microsoft.com/office/drawing/2014/main" id="{0F86A446-2FB4-41C5-BCE8-3BEA2881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6237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15%</a:t>
            </a:r>
          </a:p>
        </p:txBody>
      </p:sp>
      <p:sp>
        <p:nvSpPr>
          <p:cNvPr id="16" name="score-4-name">
            <a:extLst xmlns:a="http://schemas.openxmlformats.org/drawingml/2006/main">
              <a:ext uri="{FF2B5EF4-FFF2-40B4-BE49-F238E27FC236}">
                <a16:creationId xmlns:a16="http://schemas.microsoft.com/office/drawing/2014/main" id="{A95781AF-14E3-4B5D-984F-9DF3A1A7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762375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演讲材料质量</a:t>
            </a:r>
          </a:p>
        </p:txBody>
      </p:sp>
      <p:sp>
        <p:nvSpPr>
          <p:cNvPr id="17" name="score-4-evidence">
            <a:extLst xmlns:a="http://schemas.openxmlformats.org/drawingml/2006/main">
              <a:ext uri="{FF2B5EF4-FFF2-40B4-BE49-F238E27FC236}">
                <a16:creationId xmlns:a16="http://schemas.microsoft.com/office/drawing/2014/main" id="{306EF9D7-0C93-4851-B051-9B0E38C4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623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表达逻辑、可视化与时长控制</a:t>
            </a:r>
          </a:p>
        </p:txBody>
      </p:sp>
      <p:sp>
        <p:nvSpPr>
          <p:cNvPr id="18" name="score-4-rule">
            <a:extLst xmlns:a="http://schemas.openxmlformats.org/drawingml/2006/main">
              <a:ext uri="{FF2B5EF4-FFF2-40B4-BE49-F238E27FC236}">
                <a16:creationId xmlns:a16="http://schemas.microsoft.com/office/drawing/2014/main" id="{AF762E26-E311-4F57-A5CD-998E3699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257675"/>
            <a:ext cx="93154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core-5-weight">
            <a:extLst xmlns:a="http://schemas.openxmlformats.org/drawingml/2006/main">
              <a:ext uri="{FF2B5EF4-FFF2-40B4-BE49-F238E27FC236}">
                <a16:creationId xmlns:a16="http://schemas.microsoft.com/office/drawing/2014/main" id="{AE14547C-AD9C-4513-B66C-1A0FFFEC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1485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10%</a:t>
            </a:r>
          </a:p>
        </p:txBody>
      </p:sp>
      <p:sp>
        <p:nvSpPr>
          <p:cNvPr id="20" name="score-5-name">
            <a:extLst xmlns:a="http://schemas.openxmlformats.org/drawingml/2006/main">
              <a:ext uri="{FF2B5EF4-FFF2-40B4-BE49-F238E27FC236}">
                <a16:creationId xmlns:a16="http://schemas.microsoft.com/office/drawing/2014/main" id="{1473FF5E-CD99-4F2D-92D0-1A6DF60D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514850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人员分工合理性</a:t>
            </a:r>
          </a:p>
        </p:txBody>
      </p:sp>
      <p:sp>
        <p:nvSpPr>
          <p:cNvPr id="21" name="score-5-evidence">
            <a:extLst xmlns:a="http://schemas.openxmlformats.org/drawingml/2006/main">
              <a:ext uri="{FF2B5EF4-FFF2-40B4-BE49-F238E27FC236}">
                <a16:creationId xmlns:a16="http://schemas.microsoft.com/office/drawing/2014/main" id="{F0FF615A-30C0-4441-8CED-42B5A55E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514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角色分配与协作是否合理</a:t>
            </a:r>
          </a:p>
        </p:txBody>
      </p:sp>
      <p:sp>
        <p:nvSpPr>
          <p:cNvPr id="22" name="score-5-rule">
            <a:extLst xmlns:a="http://schemas.openxmlformats.org/drawingml/2006/main">
              <a:ext uri="{FF2B5EF4-FFF2-40B4-BE49-F238E27FC236}">
                <a16:creationId xmlns:a16="http://schemas.microsoft.com/office/drawing/2014/main" id="{421EEDD2-5D32-4F01-9BCB-1BD58456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010150"/>
            <a:ext cx="931545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core-6-weight">
            <a:extLst xmlns:a="http://schemas.openxmlformats.org/drawingml/2006/main">
              <a:ext uri="{FF2B5EF4-FFF2-40B4-BE49-F238E27FC236}">
                <a16:creationId xmlns:a16="http://schemas.microsoft.com/office/drawing/2014/main" id="{CC71A957-F52D-476B-B8B4-FB62AAAF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20%</a:t>
            </a:r>
          </a:p>
        </p:txBody>
      </p:sp>
      <p:sp>
        <p:nvSpPr>
          <p:cNvPr id="24" name="score-6-name">
            <a:extLst xmlns:a="http://schemas.openxmlformats.org/drawingml/2006/main">
              <a:ext uri="{FF2B5EF4-FFF2-40B4-BE49-F238E27FC236}">
                <a16:creationId xmlns:a16="http://schemas.microsoft.com/office/drawing/2014/main" id="{099EC08F-E8BE-4F93-9CEF-85AA385C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67325"/>
            <a:ext cx="417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系统亮点</a:t>
            </a:r>
          </a:p>
        </p:txBody>
      </p:sp>
      <p:sp>
        <p:nvSpPr>
          <p:cNvPr id="25" name="score-6-evidence">
            <a:extLst xmlns:a="http://schemas.openxmlformats.org/drawingml/2006/main">
              <a:ext uri="{FF2B5EF4-FFF2-40B4-BE49-F238E27FC236}">
                <a16:creationId xmlns:a16="http://schemas.microsoft.com/office/drawing/2014/main" id="{8B3EDF9E-ADB1-47EF-B564-7F438659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267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BFE5D5"/>
                </a:solidFill>
                <a:latin typeface="PingFang SC"/>
                <a:ea typeface="PingFang SC"/>
                <a:cs typeface="PingFang SC"/>
              </a:rPr>
              <a:t>原生 tool_calls、多轮上下文、本地统计校验</a:t>
            </a:r>
          </a:p>
        </p:txBody>
      </p:sp>
      <p:sp>
        <p:nvSpPr>
          <p:cNvPr id="26" name="innovation-takeaway">
            <a:extLst xmlns:a="http://schemas.openxmlformats.org/drawingml/2006/main">
              <a:ext uri="{FF2B5EF4-FFF2-40B4-BE49-F238E27FC236}">
                <a16:creationId xmlns:a16="http://schemas.microsoft.com/office/drawing/2014/main" id="{F9413C95-938C-43B5-8EBF-1024CFBB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FFEF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EFA"/>
                </a:solidFill>
                <a:latin typeface="PingFang SC"/>
                <a:ea typeface="PingFang SC"/>
                <a:cs typeface="PingFang SC"/>
              </a:rPr>
              <a:t>模型原生 tool_calls 编排分析，真实工具过程实时可见，统计与校验由本地完成。</a:t>
            </a:r>
          </a:p>
        </p:txBody>
      </p:sp>
    </p:spTree>
    <p:extLst>
      <p:ext uri="{BB962C8B-B14F-4D97-AF65-F5344CB8AC3E}">
        <p14:creationId xmlns:p14="http://schemas.microsoft.com/office/powerpoint/2010/main" val="20115226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532CF282-5746-4F3C-9EC2-1C90FAA0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06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现场演示与作品亮点（5+1 分钟）</a:t>
            </a:r>
          </a:p>
        </p:txBody>
      </p:sp>
      <p:sp>
        <p:nvSpPr>
          <p:cNvPr id="2" name="slide-8-accent">
            <a:extLst xmlns:a="http://schemas.openxmlformats.org/drawingml/2006/main">
              <a:ext uri="{FF2B5EF4-FFF2-40B4-BE49-F238E27FC236}">
                <a16:creationId xmlns:a16="http://schemas.microsoft.com/office/drawing/2014/main" id="{07054F15-2EFC-4CEA-AB06-F2C6966F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57300"/>
            <a:ext cx="666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emo-1-time">
            <a:extLst xmlns:a="http://schemas.openxmlformats.org/drawingml/2006/main">
              <a:ext uri="{FF2B5EF4-FFF2-40B4-BE49-F238E27FC236}">
                <a16:creationId xmlns:a16="http://schemas.microsoft.com/office/drawing/2014/main" id="{28F98A24-7FFC-45ED-B087-20C873DD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668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00:00—00:40</a:t>
            </a:r>
          </a:p>
        </p:txBody>
      </p:sp>
      <p:sp>
        <p:nvSpPr>
          <p:cNvPr id="4" name="demo-1-name">
            <a:extLst xmlns:a="http://schemas.openxmlformats.org/drawingml/2006/main">
              <a:ext uri="{FF2B5EF4-FFF2-40B4-BE49-F238E27FC236}">
                <a16:creationId xmlns:a16="http://schemas.microsoft.com/office/drawing/2014/main" id="{F0601D72-1796-4712-8394-A0EFBDCE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46685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需求与数据</a:t>
            </a:r>
          </a:p>
        </p:txBody>
      </p:sp>
      <p:sp>
        <p:nvSpPr>
          <p:cNvPr id="5" name="demo-1-detail">
            <a:extLst xmlns:a="http://schemas.openxmlformats.org/drawingml/2006/main">
              <a:ext uri="{FF2B5EF4-FFF2-40B4-BE49-F238E27FC236}">
                <a16:creationId xmlns:a16="http://schemas.microsoft.com/office/drawing/2014/main" id="{5AC21567-137F-474B-9216-8B393BF8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466850"/>
            <a:ext cx="561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任务目标、覆盖范围和清洗口径</a:t>
            </a:r>
          </a:p>
        </p:txBody>
      </p:sp>
      <p:sp>
        <p:nvSpPr>
          <p:cNvPr id="6" name="demo-1-rule">
            <a:extLst xmlns:a="http://schemas.openxmlformats.org/drawingml/2006/main">
              <a:ext uri="{FF2B5EF4-FFF2-40B4-BE49-F238E27FC236}">
                <a16:creationId xmlns:a16="http://schemas.microsoft.com/office/drawing/2014/main" id="{995F2DD1-F606-4C32-9321-71EB0CE3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914525"/>
            <a:ext cx="8001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emo-2-time">
            <a:extLst xmlns:a="http://schemas.openxmlformats.org/drawingml/2006/main">
              <a:ext uri="{FF2B5EF4-FFF2-40B4-BE49-F238E27FC236}">
                <a16:creationId xmlns:a16="http://schemas.microsoft.com/office/drawing/2014/main" id="{D5FB1148-BBB0-40FC-B54B-01E6F322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669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00:40—01:20</a:t>
            </a:r>
          </a:p>
        </p:txBody>
      </p:sp>
      <p:sp>
        <p:nvSpPr>
          <p:cNvPr id="8" name="demo-2-name">
            <a:extLst xmlns:a="http://schemas.openxmlformats.org/drawingml/2006/main">
              <a:ext uri="{FF2B5EF4-FFF2-40B4-BE49-F238E27FC236}">
                <a16:creationId xmlns:a16="http://schemas.microsoft.com/office/drawing/2014/main" id="{67B803AF-B756-47B7-964F-AC7D5C80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66925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系统架构</a:t>
            </a:r>
          </a:p>
        </p:txBody>
      </p:sp>
      <p:sp>
        <p:nvSpPr>
          <p:cNvPr id="9" name="demo-2-detail">
            <a:extLst xmlns:a="http://schemas.openxmlformats.org/drawingml/2006/main">
              <a:ext uri="{FF2B5EF4-FFF2-40B4-BE49-F238E27FC236}">
                <a16:creationId xmlns:a16="http://schemas.microsoft.com/office/drawing/2014/main" id="{3FFA0892-6157-419A-9761-54EFBC63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66925"/>
            <a:ext cx="561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DeepSeek调度与本地统计工具的关系</a:t>
            </a:r>
          </a:p>
        </p:txBody>
      </p:sp>
      <p:sp>
        <p:nvSpPr>
          <p:cNvPr id="10" name="demo-2-rule">
            <a:extLst xmlns:a="http://schemas.openxmlformats.org/drawingml/2006/main">
              <a:ext uri="{FF2B5EF4-FFF2-40B4-BE49-F238E27FC236}">
                <a16:creationId xmlns:a16="http://schemas.microsoft.com/office/drawing/2014/main" id="{CDEAD9DF-BF87-49FE-B071-56201B1A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514600"/>
            <a:ext cx="8001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emo-3-time">
            <a:extLst xmlns:a="http://schemas.openxmlformats.org/drawingml/2006/main">
              <a:ext uri="{FF2B5EF4-FFF2-40B4-BE49-F238E27FC236}">
                <a16:creationId xmlns:a16="http://schemas.microsoft.com/office/drawing/2014/main" id="{88E32587-CD7C-46C1-8157-F42ED76D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01:20—02:20</a:t>
            </a:r>
          </a:p>
        </p:txBody>
      </p:sp>
      <p:sp>
        <p:nvSpPr>
          <p:cNvPr id="12" name="demo-3-name">
            <a:extLst xmlns:a="http://schemas.openxmlformats.org/drawingml/2006/main">
              <a:ext uri="{FF2B5EF4-FFF2-40B4-BE49-F238E27FC236}">
                <a16:creationId xmlns:a16="http://schemas.microsoft.com/office/drawing/2014/main" id="{7A16FEEF-8E77-4AAC-A592-54EFC1EB1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6700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提交统计问题</a:t>
            </a:r>
          </a:p>
        </p:txBody>
      </p:sp>
      <p:sp>
        <p:nvSpPr>
          <p:cNvPr id="13" name="demo-3-detail">
            <a:extLst xmlns:a="http://schemas.openxmlformats.org/drawingml/2006/main">
              <a:ext uri="{FF2B5EF4-FFF2-40B4-BE49-F238E27FC236}">
                <a16:creationId xmlns:a16="http://schemas.microsoft.com/office/drawing/2014/main" id="{156F3FFC-5FE6-47F9-BB73-3510596A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67000"/>
            <a:ext cx="561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展示 DeepSeek 原生工具调用与本地计算</a:t>
            </a:r>
          </a:p>
        </p:txBody>
      </p:sp>
      <p:sp>
        <p:nvSpPr>
          <p:cNvPr id="14" name="demo-3-rule">
            <a:extLst xmlns:a="http://schemas.openxmlformats.org/drawingml/2006/main">
              <a:ext uri="{FF2B5EF4-FFF2-40B4-BE49-F238E27FC236}">
                <a16:creationId xmlns:a16="http://schemas.microsoft.com/office/drawing/2014/main" id="{053BFF21-85ED-4742-B1EA-96F81D81D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114675"/>
            <a:ext cx="8001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demo-4-time">
            <a:extLst xmlns:a="http://schemas.openxmlformats.org/drawingml/2006/main">
              <a:ext uri="{FF2B5EF4-FFF2-40B4-BE49-F238E27FC236}">
                <a16:creationId xmlns:a16="http://schemas.microsoft.com/office/drawing/2014/main" id="{72C52111-33EC-476C-99B9-A85FEBFB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6707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02:20—03:20</a:t>
            </a:r>
          </a:p>
        </p:txBody>
      </p:sp>
      <p:sp>
        <p:nvSpPr>
          <p:cNvPr id="16" name="demo-4-name">
            <a:extLst xmlns:a="http://schemas.openxmlformats.org/drawingml/2006/main">
              <a:ext uri="{FF2B5EF4-FFF2-40B4-BE49-F238E27FC236}">
                <a16:creationId xmlns:a16="http://schemas.microsoft.com/office/drawing/2014/main" id="{56E5D625-E4A5-4B33-A7F2-6B99F57F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267075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连续追问</a:t>
            </a:r>
          </a:p>
        </p:txBody>
      </p:sp>
      <p:sp>
        <p:nvSpPr>
          <p:cNvPr id="17" name="demo-4-detail">
            <a:extLst xmlns:a="http://schemas.openxmlformats.org/drawingml/2006/main">
              <a:ext uri="{FF2B5EF4-FFF2-40B4-BE49-F238E27FC236}">
                <a16:creationId xmlns:a16="http://schemas.microsoft.com/office/drawing/2014/main" id="{6CA07863-9192-42B6-BD87-36273C6A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67075"/>
            <a:ext cx="561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查看会话上下文和多结果页签</a:t>
            </a:r>
          </a:p>
        </p:txBody>
      </p:sp>
      <p:sp>
        <p:nvSpPr>
          <p:cNvPr id="18" name="demo-4-rule">
            <a:extLst xmlns:a="http://schemas.openxmlformats.org/drawingml/2006/main">
              <a:ext uri="{FF2B5EF4-FFF2-40B4-BE49-F238E27FC236}">
                <a16:creationId xmlns:a16="http://schemas.microsoft.com/office/drawing/2014/main" id="{07B9CECD-757C-4DA9-A8D3-4D8FD2DE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14750"/>
            <a:ext cx="8001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demo-5-time">
            <a:extLst xmlns:a="http://schemas.openxmlformats.org/drawingml/2006/main">
              <a:ext uri="{FF2B5EF4-FFF2-40B4-BE49-F238E27FC236}">
                <a16:creationId xmlns:a16="http://schemas.microsoft.com/office/drawing/2014/main" id="{89E5E516-AFD6-41DC-8A13-DFFE1DA1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03:20—04:20</a:t>
            </a:r>
          </a:p>
        </p:txBody>
      </p:sp>
      <p:sp>
        <p:nvSpPr>
          <p:cNvPr id="20" name="demo-5-name">
            <a:extLst xmlns:a="http://schemas.openxmlformats.org/drawingml/2006/main">
              <a:ext uri="{FF2B5EF4-FFF2-40B4-BE49-F238E27FC236}">
                <a16:creationId xmlns:a16="http://schemas.microsoft.com/office/drawing/2014/main" id="{D9DEC6AC-A8D6-48E8-A239-E221A0EB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6715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测试与结果</a:t>
            </a:r>
          </a:p>
        </p:txBody>
      </p:sp>
      <p:sp>
        <p:nvSpPr>
          <p:cNvPr id="21" name="demo-5-detail">
            <a:extLst xmlns:a="http://schemas.openxmlformats.org/drawingml/2006/main">
              <a:ext uri="{FF2B5EF4-FFF2-40B4-BE49-F238E27FC236}">
                <a16:creationId xmlns:a16="http://schemas.microsoft.com/office/drawing/2014/main" id="{FB2F9816-A4B5-4FF6-A482-6F5C14C4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67150"/>
            <a:ext cx="561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核心测试证据、统计校验与图表</a:t>
            </a:r>
          </a:p>
        </p:txBody>
      </p:sp>
      <p:sp>
        <p:nvSpPr>
          <p:cNvPr id="22" name="demo-5-rule">
            <a:extLst xmlns:a="http://schemas.openxmlformats.org/drawingml/2006/main">
              <a:ext uri="{FF2B5EF4-FFF2-40B4-BE49-F238E27FC236}">
                <a16:creationId xmlns:a16="http://schemas.microsoft.com/office/drawing/2014/main" id="{0AC99ACC-0401-436E-8E3F-E0141451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14825"/>
            <a:ext cx="8001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emo-6-time">
            <a:extLst xmlns:a="http://schemas.openxmlformats.org/drawingml/2006/main">
              <a:ext uri="{FF2B5EF4-FFF2-40B4-BE49-F238E27FC236}">
                <a16:creationId xmlns:a16="http://schemas.microsoft.com/office/drawing/2014/main" id="{C8DEC16E-720F-418B-8DC3-1007E766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672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04:20—05:00</a:t>
            </a:r>
          </a:p>
        </p:txBody>
      </p:sp>
      <p:sp>
        <p:nvSpPr>
          <p:cNvPr id="24" name="demo-6-name">
            <a:extLst xmlns:a="http://schemas.openxmlformats.org/drawingml/2006/main">
              <a:ext uri="{FF2B5EF4-FFF2-40B4-BE49-F238E27FC236}">
                <a16:creationId xmlns:a16="http://schemas.microsoft.com/office/drawing/2014/main" id="{1981E9EC-6126-4551-AC1A-1440A53C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467225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总结作品亮点</a:t>
            </a:r>
          </a:p>
        </p:txBody>
      </p:sp>
      <p:sp>
        <p:nvSpPr>
          <p:cNvPr id="25" name="demo-6-detail">
            <a:extLst xmlns:a="http://schemas.openxmlformats.org/drawingml/2006/main">
              <a:ext uri="{FF2B5EF4-FFF2-40B4-BE49-F238E27FC236}">
                <a16:creationId xmlns:a16="http://schemas.microsoft.com/office/drawing/2014/main" id="{6BFB9920-DB09-4CB4-8394-B59763E0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467225"/>
            <a:ext cx="561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模型调度解释；本地工具计算核验</a:t>
            </a:r>
          </a:p>
        </p:txBody>
      </p:sp>
      <p:sp>
        <p:nvSpPr>
          <p:cNvPr id="26" name="demo-6-rule">
            <a:extLst xmlns:a="http://schemas.openxmlformats.org/drawingml/2006/main">
              <a:ext uri="{FF2B5EF4-FFF2-40B4-BE49-F238E27FC236}">
                <a16:creationId xmlns:a16="http://schemas.microsoft.com/office/drawing/2014/main" id="{C30B4106-8F7B-467F-9F58-44E6461A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914900"/>
            <a:ext cx="80010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9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demo-7-time">
            <a:extLst xmlns:a="http://schemas.openxmlformats.org/drawingml/2006/main">
              <a:ext uri="{FF2B5EF4-FFF2-40B4-BE49-F238E27FC236}">
                <a16:creationId xmlns:a16="http://schemas.microsoft.com/office/drawing/2014/main" id="{6ACF9D71-782B-47FD-938E-3E1B875E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673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A9D7A"/>
                </a:solidFill>
                <a:latin typeface="PingFang SC"/>
                <a:ea typeface="PingFang SC"/>
                <a:cs typeface="PingFang SC"/>
              </a:rPr>
              <a:t>05:00—06:00</a:t>
            </a:r>
          </a:p>
        </p:txBody>
      </p:sp>
      <p:sp>
        <p:nvSpPr>
          <p:cNvPr id="28" name="demo-7-name">
            <a:extLst xmlns:a="http://schemas.openxmlformats.org/drawingml/2006/main">
              <a:ext uri="{FF2B5EF4-FFF2-40B4-BE49-F238E27FC236}">
                <a16:creationId xmlns:a16="http://schemas.microsoft.com/office/drawing/2014/main" id="{B48D27B0-72FB-4138-8AC0-E120420A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06730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3D34"/>
                </a:solidFill>
                <a:latin typeface="PingFang SC"/>
                <a:ea typeface="PingFang SC"/>
                <a:cs typeface="PingFang SC"/>
              </a:rPr>
              <a:t>评委质询</a:t>
            </a:r>
          </a:p>
        </p:txBody>
      </p:sp>
      <p:sp>
        <p:nvSpPr>
          <p:cNvPr id="29" name="demo-7-detail">
            <a:extLst xmlns:a="http://schemas.openxmlformats.org/drawingml/2006/main">
              <a:ext uri="{FF2B5EF4-FFF2-40B4-BE49-F238E27FC236}">
                <a16:creationId xmlns:a16="http://schemas.microsoft.com/office/drawing/2014/main" id="{257563C1-1AE1-4146-8BFC-AB4D3D03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67300"/>
            <a:ext cx="561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0766E"/>
                </a:solidFill>
                <a:latin typeface="PingFang SC"/>
                <a:ea typeface="PingFang SC"/>
                <a:cs typeface="PingFang SC"/>
              </a:rPr>
              <a:t>回答实现、测试和结果口径问题</a:t>
            </a:r>
          </a:p>
        </p:txBody>
      </p:sp>
    </p:spTree>
    <p:extLst>
      <p:ext uri="{BB962C8B-B14F-4D97-AF65-F5344CB8AC3E}">
        <p14:creationId xmlns:p14="http://schemas.microsoft.com/office/powerpoint/2010/main" val="20394698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2026-10-19T00:46:29.3180000Z</dcterms:created>
  <dcterms:modified xsi:type="dcterms:W3CDTF">2026-10-19T00:46:29.3180000Z</dcterms:modified>
</coreProperties>
</file>