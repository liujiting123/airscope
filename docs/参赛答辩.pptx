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4f6cb7b79e44be" /><Relationship Type="http://schemas.openxmlformats.org/officeDocument/2006/relationships/extended-properties" Target="/docProps/app.xml" Id="R5eecab2ad2d946f1" /><Relationship Type="http://schemas.openxmlformats.org/officeDocument/2006/relationships/officeDocument" Target="/ppt/presentation.xml" Id="Ra98746e407594d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eb70beb82e44cd"/>
  </p:sldMasterIdLst>
  <p:notesMasterIdLst>
    <p:notesMasterId xmlns:r="http://schemas.openxmlformats.org/officeDocument/2006/relationships" r:id="R11442fce9cc74168"/>
  </p:notesMasterIdLst>
  <p:sldIdLst>
    <p:sldId xmlns:r="http://schemas.openxmlformats.org/officeDocument/2006/relationships" id="256" r:id="R67fc857dea3d4dc9"/>
    <p:sldId xmlns:r="http://schemas.openxmlformats.org/officeDocument/2006/relationships" id="257" r:id="Rde3696a562914948"/>
    <p:sldId xmlns:r="http://schemas.openxmlformats.org/officeDocument/2006/relationships" id="258" r:id="R23a5adb25c374c45"/>
    <p:sldId xmlns:r="http://schemas.openxmlformats.org/officeDocument/2006/relationships" id="259" r:id="R61342b0b171a427c"/>
    <p:sldId xmlns:r="http://schemas.openxmlformats.org/officeDocument/2006/relationships" id="260" r:id="R7ac51db7378c48f6"/>
    <p:sldId xmlns:r="http://schemas.openxmlformats.org/officeDocument/2006/relationships" id="261" r:id="Re2f176a095e34606"/>
    <p:sldId xmlns:r="http://schemas.openxmlformats.org/officeDocument/2006/relationships" id="262" r:id="Rdf912aa9ddd74a18"/>
    <p:sldId xmlns:r="http://schemas.openxmlformats.org/officeDocument/2006/relationships" id="263" r:id="R6a11b28a83e840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fa6090e220426f" /><Relationship Type="http://schemas.openxmlformats.org/officeDocument/2006/relationships/slideMaster" Target="/ppt/slideMasters/slideMaster1.xml" Id="R4beb70beb82e44cd" /><Relationship Type="http://schemas.openxmlformats.org/officeDocument/2006/relationships/notesMaster" Target="/ppt/notesMasters/notesMaster1.xml" Id="R11442fce9cc74168" /><Relationship Type="http://schemas.openxmlformats.org/officeDocument/2006/relationships/presProps" Target="/ppt/presProps.xml" Id="R209e02a328a046ec" /><Relationship Type="http://schemas.openxmlformats.org/officeDocument/2006/relationships/tableStyles" Target="/ppt/tableStyles.xml" Id="Reac0fec5bd994c96" /><Relationship Type="http://schemas.openxmlformats.org/officeDocument/2006/relationships/slide" Target="/ppt/slides/slide1.xml" Id="R67fc857dea3d4dc9" /><Relationship Type="http://schemas.openxmlformats.org/officeDocument/2006/relationships/slide" Target="/ppt/slides/slide2.xml" Id="Rde3696a562914948" /><Relationship Type="http://schemas.openxmlformats.org/officeDocument/2006/relationships/slide" Target="/ppt/slides/slide3.xml" Id="R23a5adb25c374c45" /><Relationship Type="http://schemas.openxmlformats.org/officeDocument/2006/relationships/slide" Target="/ppt/slides/slide4.xml" Id="R61342b0b171a427c" /><Relationship Type="http://schemas.openxmlformats.org/officeDocument/2006/relationships/slide" Target="/ppt/slides/slide5.xml" Id="R7ac51db7378c48f6" /><Relationship Type="http://schemas.openxmlformats.org/officeDocument/2006/relationships/slide" Target="/ppt/slides/slide6.xml" Id="Re2f176a095e34606" /><Relationship Type="http://schemas.openxmlformats.org/officeDocument/2006/relationships/slide" Target="/ppt/slides/slide7.xml" Id="Rdf912aa9ddd74a18" /><Relationship Type="http://schemas.openxmlformats.org/officeDocument/2006/relationships/slide" Target="/ppt/slides/slide8.xml" Id="R6a11b28a83e840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6a9e0e242241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5f990826e34529" /><Relationship Type="http://schemas.openxmlformats.org/officeDocument/2006/relationships/notesMaster" Target="/ppt/notesMasters/notesMaster1.xml" Id="Re67a629126d74a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0485f3835748a4" /><Relationship Type="http://schemas.openxmlformats.org/officeDocument/2006/relationships/notesMaster" Target="/ppt/notesMasters/notesMaster1.xml" Id="R2066252daab44a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ccc845a36e43f3" /><Relationship Type="http://schemas.openxmlformats.org/officeDocument/2006/relationships/notesMaster" Target="/ppt/notesMasters/notesMaster1.xml" Id="R7a4d1769d9ce4d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33a1a3a1d340f9" /><Relationship Type="http://schemas.openxmlformats.org/officeDocument/2006/relationships/notesMaster" Target="/ppt/notesMasters/notesMaster1.xml" Id="R2cd34df8ed2347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be69bf1dc24f5f" /><Relationship Type="http://schemas.openxmlformats.org/officeDocument/2006/relationships/notesMaster" Target="/ppt/notesMasters/notesMaster1.xml" Id="Rbd55c4cc7ee74f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f0165420b14885" /><Relationship Type="http://schemas.openxmlformats.org/officeDocument/2006/relationships/notesMaster" Target="/ppt/notesMasters/notesMaster1.xml" Id="R5d189385773241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8c457e8e6c4f86" /><Relationship Type="http://schemas.openxmlformats.org/officeDocument/2006/relationships/notesMaster" Target="/ppt/notesMasters/notesMaster1.xml" Id="Rb664e7eb4b044c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2523c903f64942" /><Relationship Type="http://schemas.openxmlformats.org/officeDocument/2006/relationships/notesMaster" Target="/ppt/notesMasters/notesMaster1.xml" Id="R6a1f0c2c91c648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开场用一句话介绍作品：清穹 AirScope 由 DeepSeek Flash 理解问题并发起原生工具调用，本地工具处理空气质量数据、计算统计值并校验结果。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先讲问题来自哪里：原始数据以 CSV 分片保存，统计前要处理日期和缺失值；分析还要分清年均与日均。AirScope 由模型理解用户问题并调度工具，本地服务执行数据处理和统计，过程可以追溯。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作品的关键机制是 DeepSeek 原生 function tool_calls 多轮循环。模型理解自然语言并决定调用哪个工具；工具在本地 Python 服务中执行，observation 返回模型后，模型可继续调用，也可给出最终回答。真实 function 名包括 get_dataset_info、clean_data、get_standard、analyze_air_quality、validate_result 与 render_visualization；analyze_air_quality 通过结构化计划完成城市排名、超标统计、趋势、季节对比和跳变分析。界面通过 NDJSON 显示实际的调用过程和问答。原始数据保留在本地 CSV 与 SQLite，数值由本地工具计算。仅显式使用 --offline 时才启用本地规则备用流程。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沿图讲清楚数据的真实去向：准备脚本逐份处理367个小时CSV；PM2.5、PM10、SO₂、NO₂、CO每日各需至少20个有效小时，O₃按HJ 663构造17个8小时窗口并执行有效性判断；清洗后得到125,172条城市日，写入本地SQLite。DeepSeek 通过原生 function tool_calls 请求本地工具；后续分组、聚合、标准研判与有效分母校验均在本机完成。统计结果作为 observation 返回模型，模型可据此继续调用或组织回答。最终输出SVG与JSON、CSV、HTML。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PM2.5年均35和日均75分开看，二者的平均周期不同。手算只演示分母：三条有效日均值30、40、50，平均40；缺失日不计入分母，这不是数据集统计。原始小时CSV已按指标有效性重算日值：PM2.5、PM10、SO₂、NO₂、CO每日至少20个有效小时；O₃按结束时刻08—24的17个8小时窗口计算，每窗至少6小时，通常至少14个有效窗口；超过O₃日最大8小时二级限值160 μg/m³时按标准例外保留有效。年度判定再要求至少324个有效日并满足逐月门槛。标准原文：生态环境部《GB 3095—2012 环境空气质量标准》官方PDF，第7页表1、第9页表4：https://www.mee.gov.cn/ywgz/fgbz/bz/bzwb/dqhjbh/dqhjzlbz/201203/W020250407403788086276.pdf。这是比赛指定的历史口径。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数据来自中国环境监测总站城市小时数据的Quotsoft公开历史归档，来源页：https://quotsoft.net/air/ ，上游说明见 https://air.cnemc.cn:18007/ 。本页展示2026年10月19日的一次真实 DeepSeek Flash 分析，result.json 记录模型调用总耗时4,880.65毫秒。实际工具顺序为 get_dataset_info → clean_data → analyze_air_quality → validate_result → render_visualization；应用随后保存本轮完整答复。五个城市PM2.5年均值依次为和田地区88.39、喀什60.27、克孜勒苏柯尔克孜自治州53.67、安阳50.53、鹤壁50.27 μg/m³；五地均361/366个有效日，满足年度完整性门槛，按赛事指定GB 3095—2012二级年均限值35 μg/m³均超标。该次统计使用125,172条城市日、342个活跃地区、367份小时源文件。截图来自本次真实模型回答和本地统计图表；AQI依据小时浓度按HJ 633—2012派生，有效120,859条，属于本地派生指标，区别于Quotsoft历史归档展示的审核日AQI。具体重复场景和测试覆盖见 docs/测试证据.md。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HCP规则的六项参考权重依次为：需求思考与完成度20%，Harness过程与系统架构合理性20%，功能测试覆盖率15%，演讲材料质量15%，人员分工合理性10%，系统亮点20%。不要把题目侧重分误说成这六项评分：README另列业务侧重Agent规划与工具调用40%、数据处理与统计30%、可视化20%、代码规范10%。介绍作品亮点时指出DeepSeek通过原生function tool_calls调度，本地工具计算并校验，NDJSON展示实际过程。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答辩控制为5分钟演讲、1分钟质询。演讲依次讲需求与数据、系统架构、DeepSeek原生工具调用、多轮追问和结果页签、核心测试证据与图表、作品亮点。第7页已经包含通用六维权重。质询时优先说明tool_calls循环、统计为什么留在本地、测试范围以及GB 3095—2012作为比赛指定历史口径的原因。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2c41b33e146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72311d0094a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35dfdc538243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2ca41070654c5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dd136197f4493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56c3f8266546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145BB6-421E-4C5A-AB62-BB32FA88BE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D05D77F-C5A4-48BD-83D3-3B4B2083E2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B1ABB0-9945-489D-A6DA-6F59A34762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FFA013-DB1A-4D93-BE64-25D4280A11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AD31242-9EB6-44C6-BE4E-B9527ACB47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8A2590-C233-4DC4-89DD-C1C8C10FF9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5D2540-66A5-4A26-9B5D-6619FD8BFB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D90A4BC-FE12-4E4E-8DD1-5854CCBDF8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417C7D-D3B6-479A-A4FF-3A83ACBF35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4AD51B-2502-42CE-A548-D628B251DA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d85cb1578e47f4" /><Relationship Type="http://schemas.openxmlformats.org/officeDocument/2006/relationships/slideLayout" Target="/ppt/slideLayouts/slideLayout1.xml" Id="R155b693aa4384401" /><Relationship Type="http://schemas.openxmlformats.org/officeDocument/2006/relationships/slideLayout" Target="/ppt/slideLayouts/slideLayout2.xml" Id="R19aefb80d5ad4c73" /><Relationship Type="http://schemas.openxmlformats.org/officeDocument/2006/relationships/slideLayout" Target="/ppt/slideLayouts/slideLayout3.xml" Id="R9d4b8bca80ad40f8" /><Relationship Type="http://schemas.openxmlformats.org/officeDocument/2006/relationships/slideLayout" Target="/ppt/slideLayouts/slideLayout4.xml" Id="R6929a56b93654d0c" /><Relationship Type="http://schemas.openxmlformats.org/officeDocument/2006/relationships/slideLayout" Target="/ppt/slideLayouts/slideLayout5.xml" Id="R55911c4134d14cf1" /><Relationship Type="http://schemas.openxmlformats.org/officeDocument/2006/relationships/slideLayout" Target="/ppt/slideLayouts/slideLayout6.xml" Id="R957261be9a1b43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5b693aa4384401"/>
    <p:sldLayoutId xmlns:r="http://schemas.openxmlformats.org/officeDocument/2006/relationships" id="2147483650" r:id="R19aefb80d5ad4c73"/>
    <p:sldLayoutId xmlns:r="http://schemas.openxmlformats.org/officeDocument/2006/relationships" id="2147483651" r:id="R9d4b8bca80ad40f8"/>
    <p:sldLayoutId xmlns:r="http://schemas.openxmlformats.org/officeDocument/2006/relationships" id="2147483652" r:id="R6929a56b93654d0c"/>
    <p:sldLayoutId xmlns:r="http://schemas.openxmlformats.org/officeDocument/2006/relationships" id="2147483653" r:id="R55911c4134d14cf1"/>
    <p:sldLayoutId xmlns:r="http://schemas.openxmlformats.org/officeDocument/2006/relationships" id="2147483654" r:id="R957261be9a1b43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c0fd5634e45a4" /><Relationship Type="http://schemas.openxmlformats.org/officeDocument/2006/relationships/notesSlide" Target="/ppt/notesSlides/notesSlide1.xml" Id="R791ad86b2ed245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ac941476e14616" /><Relationship Type="http://schemas.openxmlformats.org/officeDocument/2006/relationships/notesSlide" Target="/ppt/notesSlides/notesSlide2.xml" Id="R684e71943dcb46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cb9bc755b343ce" /><Relationship Type="http://schemas.openxmlformats.org/officeDocument/2006/relationships/notesSlide" Target="/ppt/notesSlides/notesSlide3.xml" Id="Rdbd8ae494c684e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ffcd2a3e094de7" /><Relationship Type="http://schemas.openxmlformats.org/officeDocument/2006/relationships/notesSlide" Target="/ppt/notesSlides/notesSlide4.xml" Id="Re8c22214259049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d80337d91b404d" /><Relationship Type="http://schemas.openxmlformats.org/officeDocument/2006/relationships/notesSlide" Target="/ppt/notesSlides/notesSlide5.xml" Id="R447b8a081d604d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860537bd534713" /><Relationship Type="http://schemas.openxmlformats.org/officeDocument/2006/relationships/image" Target="/ppt/media/image.png" Id="R4fea0bc043f3411e" /><Relationship Type="http://schemas.openxmlformats.org/officeDocument/2006/relationships/notesSlide" Target="/ppt/notesSlides/notesSlide6.xml" Id="R535618af630c4c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6de64c89764cb0" /><Relationship Type="http://schemas.openxmlformats.org/officeDocument/2006/relationships/notesSlide" Target="/ppt/notesSlides/notesSlide7.xml" Id="R1652a52880ff47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82440f3602433e" /><Relationship Type="http://schemas.openxmlformats.org/officeDocument/2006/relationships/notesSlide" Target="/ppt/notesSlides/notesSlide8.xml" Id="Reb124b1a8d754c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D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brand">
            <a:extLst xmlns:a="http://schemas.openxmlformats.org/drawingml/2006/main">
              <a:ext uri="{FF2B5EF4-FFF2-40B4-BE49-F238E27FC236}">
                <a16:creationId xmlns:a16="http://schemas.microsoft.com/office/drawing/2014/main" id="{88484668-0EC5-4ADB-A71F-9277FB8A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1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51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51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51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51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51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51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51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51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51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FFFEFA"/>
                </a:solidFill>
                <a:latin typeface="PingFang SC"/>
                <a:ea typeface="PingFang SC"/>
                <a:cs typeface="PingFang SC"/>
              </a:rPr>
              <a:t>清穹 AirScope</a:t>
            </a:r>
          </a:p>
        </p:txBody>
      </p:sp>
      <p:sp>
        <p:nvSpPr>
          <p:cNvPr id="2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241F9D09-A18A-4C02-8BA0-41278314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BFE5D5"/>
                </a:solidFill>
                <a:latin typeface="PingFang SC"/>
                <a:ea typeface="PingFang SC"/>
                <a:cs typeface="PingFang SC"/>
              </a:rPr>
              <a:t>DeepSeek 驱动的本地空气质量分析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2FEE2350-4E54-486A-8FDD-4DF9721D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1200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purpose">
            <a:extLst xmlns:a="http://schemas.openxmlformats.org/drawingml/2006/main">
              <a:ext uri="{FF2B5EF4-FFF2-40B4-BE49-F238E27FC236}">
                <a16:creationId xmlns:a16="http://schemas.microsoft.com/office/drawing/2014/main" id="{60FAEFE1-2643-44C3-A60B-FDDC0F1B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EFA"/>
                </a:solidFill>
                <a:latin typeface="PingFang SC"/>
                <a:ea typeface="PingFang SC"/>
                <a:cs typeface="PingFang SC"/>
              </a:rPr>
              <a:t>大数据课堂比赛 / 作品答辩</a:t>
            </a:r>
          </a:p>
        </p:txBody>
      </p:sp>
      <p:sp>
        <p:nvSpPr>
          <p:cNvPr id="5" name="cover-promise">
            <a:extLst xmlns:a="http://schemas.openxmlformats.org/drawingml/2006/main">
              <a:ext uri="{FF2B5EF4-FFF2-40B4-BE49-F238E27FC236}">
                <a16:creationId xmlns:a16="http://schemas.microsoft.com/office/drawing/2014/main" id="{B32A06D2-4EE2-4D5E-B6CF-C68C8D8D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rPr>
              <a:t>模型负责调度，本地工具计算与核验</a:t>
            </a:r>
          </a:p>
        </p:txBody>
      </p:sp>
    </p:spTree>
    <p:extLst>
      <p:ext uri="{BB962C8B-B14F-4D97-AF65-F5344CB8AC3E}">
        <p14:creationId xmlns:p14="http://schemas.microsoft.com/office/powerpoint/2010/main" val="3391256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B132B832-A5E9-4BBE-B29B-3DD6D395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0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作品解决的问题</a:t>
            </a:r>
          </a:p>
        </p:txBody>
      </p:sp>
      <p:sp>
        <p:nvSpPr>
          <p:cNvPr id="2" name="slide-2-accent">
            <a:extLst xmlns:a="http://schemas.openxmlformats.org/drawingml/2006/main">
              <a:ext uri="{FF2B5EF4-FFF2-40B4-BE49-F238E27FC236}">
                <a16:creationId xmlns:a16="http://schemas.microsoft.com/office/drawing/2014/main" id="{55C72AE3-81A1-4759-8C21-3E3E6774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roblem-01-num">
            <a:extLst xmlns:a="http://schemas.openxmlformats.org/drawingml/2006/main">
              <a:ext uri="{FF2B5EF4-FFF2-40B4-BE49-F238E27FC236}">
                <a16:creationId xmlns:a16="http://schemas.microsoft.com/office/drawing/2014/main" id="{A026391B-7FCB-47F5-981B-FEEAE8A9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647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problem-01-head">
            <a:extLst xmlns:a="http://schemas.openxmlformats.org/drawingml/2006/main">
              <a:ext uri="{FF2B5EF4-FFF2-40B4-BE49-F238E27FC236}">
                <a16:creationId xmlns:a16="http://schemas.microsoft.com/office/drawing/2014/main" id="{D33BB718-3377-461D-B5E9-1031E2F8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526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多份 CSV</a:t>
            </a:r>
          </a:p>
        </p:txBody>
      </p:sp>
      <p:sp>
        <p:nvSpPr>
          <p:cNvPr id="5" name="problem-01-desc">
            <a:extLst xmlns:a="http://schemas.openxmlformats.org/drawingml/2006/main">
              <a:ext uri="{FF2B5EF4-FFF2-40B4-BE49-F238E27FC236}">
                <a16:creationId xmlns:a16="http://schemas.microsoft.com/office/drawing/2014/main" id="{89D8BFCC-FA28-4404-9832-A2A1218E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288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读取、清洗和合并要重复处理</a:t>
            </a:r>
          </a:p>
        </p:txBody>
      </p:sp>
      <p:sp>
        <p:nvSpPr>
          <p:cNvPr id="6" name="problem-01-rule">
            <a:extLst xmlns:a="http://schemas.openxmlformats.org/drawingml/2006/main">
              <a:ext uri="{FF2B5EF4-FFF2-40B4-BE49-F238E27FC236}">
                <a16:creationId xmlns:a16="http://schemas.microsoft.com/office/drawing/2014/main" id="{ECE419F3-EDD1-430C-B5E1-15B888E8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52725"/>
            <a:ext cx="4591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02-num">
            <a:extLst xmlns:a="http://schemas.openxmlformats.org/drawingml/2006/main">
              <a:ext uri="{FF2B5EF4-FFF2-40B4-BE49-F238E27FC236}">
                <a16:creationId xmlns:a16="http://schemas.microsoft.com/office/drawing/2014/main" id="{D6619E59-705B-4743-8F26-DFAEA90D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647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problem-02-head">
            <a:extLst xmlns:a="http://schemas.openxmlformats.org/drawingml/2006/main">
              <a:ext uri="{FF2B5EF4-FFF2-40B4-BE49-F238E27FC236}">
                <a16:creationId xmlns:a16="http://schemas.microsoft.com/office/drawing/2014/main" id="{832AE073-53FE-4FE2-A078-C5662C81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051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指标口径</a:t>
            </a:r>
          </a:p>
        </p:txBody>
      </p:sp>
      <p:sp>
        <p:nvSpPr>
          <p:cNvPr id="9" name="problem-02-desc">
            <a:extLst xmlns:a="http://schemas.openxmlformats.org/drawingml/2006/main">
              <a:ext uri="{FF2B5EF4-FFF2-40B4-BE49-F238E27FC236}">
                <a16:creationId xmlns:a16="http://schemas.microsoft.com/office/drawing/2014/main" id="{D08E1757-1C6B-4738-AAC9-D12534EE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814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年均与日均的判断标准不能混用</a:t>
            </a:r>
          </a:p>
        </p:txBody>
      </p:sp>
      <p:sp>
        <p:nvSpPr>
          <p:cNvPr id="10" name="problem-02-rule">
            <a:extLst xmlns:a="http://schemas.openxmlformats.org/drawingml/2006/main">
              <a:ext uri="{FF2B5EF4-FFF2-40B4-BE49-F238E27FC236}">
                <a16:creationId xmlns:a16="http://schemas.microsoft.com/office/drawing/2014/main" id="{E88702A0-D896-4D58-ABB3-ACB56A5B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05275"/>
            <a:ext cx="4591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03-num">
            <a:extLst xmlns:a="http://schemas.openxmlformats.org/drawingml/2006/main">
              <a:ext uri="{FF2B5EF4-FFF2-40B4-BE49-F238E27FC236}">
                <a16:creationId xmlns:a16="http://schemas.microsoft.com/office/drawing/2014/main" id="{ACCD1DFF-CB05-41CD-8C96-96AD28EB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647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A9D7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problem-03-head">
            <a:extLst xmlns:a="http://schemas.openxmlformats.org/drawingml/2006/main">
              <a:ext uri="{FF2B5EF4-FFF2-40B4-BE49-F238E27FC236}">
                <a16:creationId xmlns:a16="http://schemas.microsoft.com/office/drawing/2014/main" id="{7BEA2037-91B9-417B-A9B4-617F30A6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577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追问复核</a:t>
            </a:r>
          </a:p>
        </p:txBody>
      </p:sp>
      <p:sp>
        <p:nvSpPr>
          <p:cNvPr id="13" name="problem-03-desc">
            <a:extLst xmlns:a="http://schemas.openxmlformats.org/drawingml/2006/main">
              <a:ext uri="{FF2B5EF4-FFF2-40B4-BE49-F238E27FC236}">
                <a16:creationId xmlns:a16="http://schemas.microsoft.com/office/drawing/2014/main" id="{061DC180-24A6-4397-B2B9-36B6A26B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339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后续筛选要沿用条件，也要看得到依据</a:t>
            </a:r>
          </a:p>
        </p:txBody>
      </p:sp>
      <p:sp>
        <p:nvSpPr>
          <p:cNvPr id="14" name="problem-03-rule">
            <a:extLst xmlns:a="http://schemas.openxmlformats.org/drawingml/2006/main">
              <a:ext uri="{FF2B5EF4-FFF2-40B4-BE49-F238E27FC236}">
                <a16:creationId xmlns:a16="http://schemas.microsoft.com/office/drawing/2014/main" id="{057B596D-783E-4F3A-9431-16523A74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57825"/>
            <a:ext cx="45910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osition-block">
            <a:extLst xmlns:a="http://schemas.openxmlformats.org/drawingml/2006/main">
              <a:ext uri="{FF2B5EF4-FFF2-40B4-BE49-F238E27FC236}">
                <a16:creationId xmlns:a16="http://schemas.microsoft.com/office/drawing/2014/main" id="{9A2ADF3C-67C3-4CB2-9E55-60173A5E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47850"/>
            <a:ext cx="4171950" cy="3562350"/>
          </a:xfrm>
          <a:prstGeom xmlns:a="http://schemas.openxmlformats.org/drawingml/2006/main" prst="roundRect">
            <a:avLst>
              <a:gd name="adj" fmla="val 4813"/>
            </a:avLst>
          </a:prstGeom>
          <a:solidFill xmlns:a="http://schemas.openxmlformats.org/drawingml/2006/main">
            <a:srgbClr val="15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osition-kicker">
            <a:extLst xmlns:a="http://schemas.openxmlformats.org/drawingml/2006/main">
              <a:ext uri="{FF2B5EF4-FFF2-40B4-BE49-F238E27FC236}">
                <a16:creationId xmlns:a16="http://schemas.microsoft.com/office/drawing/2014/main" id="{F74AE818-70DA-476B-A1F3-AC3B9F6E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098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BFE5D5"/>
                </a:solidFill>
                <a:latin typeface="PingFang SC"/>
                <a:ea typeface="PingFang SC"/>
                <a:cs typeface="PingFang SC"/>
              </a:rPr>
              <a:t>作品定位</a:t>
            </a:r>
          </a:p>
        </p:txBody>
      </p:sp>
      <p:sp>
        <p:nvSpPr>
          <p:cNvPr id="17" name="position-main">
            <a:extLst xmlns:a="http://schemas.openxmlformats.org/drawingml/2006/main">
              <a:ext uri="{FF2B5EF4-FFF2-40B4-BE49-F238E27FC236}">
                <a16:creationId xmlns:a16="http://schemas.microsoft.com/office/drawing/2014/main" id="{01E82BD6-E382-4AA9-B778-444C19D7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43200"/>
            <a:ext cx="3333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62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62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62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62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62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62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62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62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62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FFFEFA"/>
                </a:solidFill>
                <a:latin typeface="PingFang SC"/>
                <a:ea typeface="PingFang SC"/>
                <a:cs typeface="PingFang SC"/>
              </a:rPr>
              <a:t>把自然语言问题</a:t>
            </a:r>
          </a:p>
          <a:p xmlns:a="http://schemas.openxmlformats.org/drawingml/2006/main">
            <a:pPr algn="l">
              <a:defRPr sz="262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FFFEFA"/>
                </a:solidFill>
                <a:latin typeface="PingFang SC"/>
                <a:ea typeface="PingFang SC"/>
                <a:cs typeface="PingFang SC"/>
              </a:rPr>
              <a:t>转成可追溯的工具流程</a:t>
            </a:r>
          </a:p>
        </p:txBody>
      </p:sp>
      <p:sp>
        <p:nvSpPr>
          <p:cNvPr id="18" name="position-detail">
            <a:extLst xmlns:a="http://schemas.openxmlformats.org/drawingml/2006/main">
              <a:ext uri="{FF2B5EF4-FFF2-40B4-BE49-F238E27FC236}">
                <a16:creationId xmlns:a16="http://schemas.microsoft.com/office/drawing/2014/main" id="{FCB11F9E-251E-403F-A7A7-A9885304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71950"/>
            <a:ext cx="3276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FE5D5"/>
                </a:solidFill>
                <a:latin typeface="PingFang SC"/>
                <a:ea typeface="PingFang SC"/>
                <a:cs typeface="PingFang SC"/>
              </a:rPr>
              <a:t>模型发起工具调用，本机返回统计表、图表与执行记录。</a:t>
            </a:r>
          </a:p>
        </p:txBody>
      </p:sp>
    </p:spTree>
    <p:extLst>
      <p:ext uri="{BB962C8B-B14F-4D97-AF65-F5344CB8AC3E}">
        <p14:creationId xmlns:p14="http://schemas.microsoft.com/office/powerpoint/2010/main" val="10493108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2EE824-B6FD-4A51-81FA-41DB3D00E987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>
            <a:off x="1847850" y="3676650"/>
            <a:ext cx="8429625" cy="228600"/>
          </a:xfrm>
          <a:prstGeom xmlns:a="http://schemas.openxmlformats.org/drawingml/2006/main" prst="bentConnector4">
            <a:avLst/>
          </a:prstGeom>
          <a:ln xmlns:a="http://schemas.openxmlformats.org/drawingml/2006/main" w="23813">
            <a:solidFill>
              <a:srgbClr val="2A9D7A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303E5-7433-4A4F-93BA-0DABFE0D4389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48700" y="3000375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A9D7A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A69DF-C50C-4632-BFCE-931014B9FDA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38825" y="3000375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A9D7A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E7837D-9530-41A4-9F98-55D7D406FB2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28950" y="3000375"/>
            <a:ext cx="4476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A9D7A"/>
            </a:solidFill>
            <a:prstDash val="solid"/>
            <a:tailEnd type="arrow" w="med" len="med"/>
          </a:ln>
        </p:spPr>
      </p:cxnSp>
      <p:sp>
        <p:nvSpPr>
          <p:cNvPr id="2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7C2661A-8AA0-4DD0-B2A6-68F6D29B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0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DeepSeek 原生工具调用循环</a:t>
            </a:r>
          </a:p>
        </p:txBody>
      </p:sp>
      <p:sp>
        <p:nvSpPr>
          <p:cNvPr id="2" name="slide-3-accent">
            <a:extLst xmlns:a="http://schemas.openxmlformats.org/drawingml/2006/main">
              <a:ext uri="{FF2B5EF4-FFF2-40B4-BE49-F238E27FC236}">
                <a16:creationId xmlns:a16="http://schemas.microsoft.com/office/drawing/2014/main" id="{94F3653A-D9F8-435F-8B43-1A871371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lanner-explainer">
            <a:extLst xmlns:a="http://schemas.openxmlformats.org/drawingml/2006/main">
              <a:ext uri="{FF2B5EF4-FFF2-40B4-BE49-F238E27FC236}">
                <a16:creationId xmlns:a16="http://schemas.microsoft.com/office/drawing/2014/main" id="{7957084C-18CD-4B88-B5D7-DBC8BE6F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模型理解问题并发起 function tool_calls；本地工具返回 observation，模型再决定下一步。</a:t>
            </a:r>
          </a:p>
        </p:txBody>
      </p:sp>
      <p:sp>
        <p:nvSpPr>
          <p:cNvPr id="4" name="react-node-1">
            <a:extLst xmlns:a="http://schemas.openxmlformats.org/drawingml/2006/main">
              <a:ext uri="{FF2B5EF4-FFF2-40B4-BE49-F238E27FC236}">
                <a16:creationId xmlns:a16="http://schemas.microsoft.com/office/drawing/2014/main" id="{548A5B03-44D2-4576-A447-DB59D353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236220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B7C9BF"/>
            </a:solidFill>
            <a:prstDash val="solid"/>
          </a:ln>
        </p:spPr>
      </p:sp>
      <p:sp>
        <p:nvSpPr>
          <p:cNvPr id="5" name="react-node-1-label">
            <a:extLst xmlns:a="http://schemas.openxmlformats.org/drawingml/2006/main">
              <a:ext uri="{FF2B5EF4-FFF2-40B4-BE49-F238E27FC236}">
                <a16:creationId xmlns:a16="http://schemas.microsoft.com/office/drawing/2014/main" id="{3897F5A5-90F6-4398-93A2-E70B7E3D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理解问题</a:t>
            </a:r>
          </a:p>
        </p:txBody>
      </p:sp>
      <p:sp>
        <p:nvSpPr>
          <p:cNvPr id="6" name="react-node-1-sub">
            <a:extLst xmlns:a="http://schemas.openxmlformats.org/drawingml/2006/main">
              <a:ext uri="{FF2B5EF4-FFF2-40B4-BE49-F238E27FC236}">
                <a16:creationId xmlns:a16="http://schemas.microsoft.com/office/drawing/2014/main" id="{02F493FF-B06B-4133-A297-D9A4729E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133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提取指标、地区与时间</a:t>
            </a:r>
          </a:p>
          <a:p xmlns:a="http://schemas.openxmlformats.org/drawingml/2006/main">
            <a: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结合当前会话上下文</a:t>
            </a:r>
          </a:p>
        </p:txBody>
      </p:sp>
      <p:sp>
        <p:nvSpPr>
          <p:cNvPr id="7" name="react-node-2">
            <a:extLst xmlns:a="http://schemas.openxmlformats.org/drawingml/2006/main">
              <a:ext uri="{FF2B5EF4-FFF2-40B4-BE49-F238E27FC236}">
                <a16:creationId xmlns:a16="http://schemas.microsoft.com/office/drawing/2014/main" id="{79448BFC-703D-4224-972B-D21817D5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24100"/>
            <a:ext cx="236220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7EFE8"/>
          </a:solidFill>
          <a:ln xmlns:a="http://schemas.openxmlformats.org/drawingml/2006/main" w="14288">
            <a:solidFill>
              <a:srgbClr val="2A9D7A"/>
            </a:solidFill>
            <a:prstDash val="solid"/>
          </a:ln>
        </p:spPr>
      </p:sp>
      <p:sp>
        <p:nvSpPr>
          <p:cNvPr id="8" name="react-node-2-label">
            <a:extLst xmlns:a="http://schemas.openxmlformats.org/drawingml/2006/main">
              <a:ext uri="{FF2B5EF4-FFF2-40B4-BE49-F238E27FC236}">
                <a16:creationId xmlns:a16="http://schemas.microsoft.com/office/drawing/2014/main" id="{E05E64A0-967E-4C1F-8742-D177C9CC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4765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选择工具</a:t>
            </a:r>
          </a:p>
        </p:txBody>
      </p:sp>
      <p:sp>
        <p:nvSpPr>
          <p:cNvPr id="9" name="react-node-2-sub">
            <a:extLst xmlns:a="http://schemas.openxmlformats.org/drawingml/2006/main">
              <a:ext uri="{FF2B5EF4-FFF2-40B4-BE49-F238E27FC236}">
                <a16:creationId xmlns:a16="http://schemas.microsoft.com/office/drawing/2014/main" id="{FB008139-BBAB-4884-BF48-4E2B4F73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95600"/>
            <a:ext cx="2133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生成原生 function</a:t>
            </a:r>
          </a:p>
          <a:p xmlns:a="http://schemas.openxmlformats.org/drawingml/2006/main">
            <a: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tool_calls 请求</a:t>
            </a:r>
          </a:p>
        </p:txBody>
      </p:sp>
      <p:sp>
        <p:nvSpPr>
          <p:cNvPr id="10" name="react-node-3">
            <a:extLst xmlns:a="http://schemas.openxmlformats.org/drawingml/2006/main">
              <a:ext uri="{FF2B5EF4-FFF2-40B4-BE49-F238E27FC236}">
                <a16:creationId xmlns:a16="http://schemas.microsoft.com/office/drawing/2014/main" id="{B4700781-D629-4279-8CB9-238C3A15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36220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B7C9BF"/>
            </a:solidFill>
            <a:prstDash val="solid"/>
          </a:ln>
        </p:spPr>
      </p:sp>
      <p:sp>
        <p:nvSpPr>
          <p:cNvPr id="11" name="react-node-3-label">
            <a:extLst xmlns:a="http://schemas.openxmlformats.org/drawingml/2006/main">
              <a:ext uri="{FF2B5EF4-FFF2-40B4-BE49-F238E27FC236}">
                <a16:creationId xmlns:a16="http://schemas.microsoft.com/office/drawing/2014/main" id="{D66E43EB-7719-437D-B38E-A7011C74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本地执行</a:t>
            </a:r>
          </a:p>
        </p:txBody>
      </p:sp>
      <p:sp>
        <p:nvSpPr>
          <p:cNvPr id="12" name="react-node-3-sub">
            <a:extLst xmlns:a="http://schemas.openxmlformats.org/drawingml/2006/main">
              <a:ext uri="{FF2B5EF4-FFF2-40B4-BE49-F238E27FC236}">
                <a16:creationId xmlns:a16="http://schemas.microsoft.com/office/drawing/2014/main" id="{32F15B85-2330-477E-B098-8F825799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2133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读取 / 清洗 / 统计</a:t>
            </a:r>
          </a:p>
          <a:p xmlns:a="http://schemas.openxmlformats.org/drawingml/2006/main">
            <a: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标准研判 / 结果校验</a:t>
            </a:r>
          </a:p>
        </p:txBody>
      </p:sp>
      <p:sp>
        <p:nvSpPr>
          <p:cNvPr id="13" name="react-node-4">
            <a:extLst xmlns:a="http://schemas.openxmlformats.org/drawingml/2006/main">
              <a:ext uri="{FF2B5EF4-FFF2-40B4-BE49-F238E27FC236}">
                <a16:creationId xmlns:a16="http://schemas.microsoft.com/office/drawing/2014/main" id="{8B289951-8675-42E4-9C2B-7CF70E82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24100"/>
            <a:ext cx="2362200" cy="135255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B7C9BF"/>
            </a:solidFill>
            <a:prstDash val="solid"/>
          </a:ln>
        </p:spPr>
      </p:sp>
      <p:sp>
        <p:nvSpPr>
          <p:cNvPr id="14" name="react-node-4-label">
            <a:extLst xmlns:a="http://schemas.openxmlformats.org/drawingml/2006/main">
              <a:ext uri="{FF2B5EF4-FFF2-40B4-BE49-F238E27FC236}">
                <a16:creationId xmlns:a16="http://schemas.microsoft.com/office/drawing/2014/main" id="{B67E51C6-FAD9-4184-A94E-0E1DDC70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765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读取观察</a:t>
            </a:r>
          </a:p>
        </p:txBody>
      </p:sp>
      <p:sp>
        <p:nvSpPr>
          <p:cNvPr id="15" name="react-node-4-sub">
            <a:extLst xmlns:a="http://schemas.openxmlformats.org/drawingml/2006/main">
              <a:ext uri="{FF2B5EF4-FFF2-40B4-BE49-F238E27FC236}">
                <a16:creationId xmlns:a16="http://schemas.microsoft.com/office/drawing/2014/main" id="{DDF077AF-FCE8-4839-828E-54296DB1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95600"/>
            <a:ext cx="2133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接收工具 observation</a:t>
            </a:r>
          </a:p>
          <a:p xmlns:a="http://schemas.openxmlformats.org/drawingml/2006/main">
            <a: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继续调用或最终作答</a:t>
            </a:r>
          </a:p>
        </p:txBody>
      </p:sp>
      <p:sp>
        <p:nvSpPr>
          <p:cNvPr id="20" name="react-loop-label">
            <a:extLst xmlns:a="http://schemas.openxmlformats.org/drawingml/2006/main">
              <a:ext uri="{FF2B5EF4-FFF2-40B4-BE49-F238E27FC236}">
                <a16:creationId xmlns:a16="http://schemas.microsoft.com/office/drawing/2014/main" id="{2FFE609E-2984-42AD-A6FA-4A74CE69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005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模型循环：理解问题 → tool_calls → 本地执行 → 读取 observation → 继续调用或回答。</a:t>
            </a:r>
          </a:p>
        </p:txBody>
      </p:sp>
      <p:sp>
        <p:nvSpPr>
          <p:cNvPr id="21" name="react-routing-card">
            <a:extLst xmlns:a="http://schemas.openxmlformats.org/drawingml/2006/main">
              <a:ext uri="{FF2B5EF4-FFF2-40B4-BE49-F238E27FC236}">
                <a16:creationId xmlns:a16="http://schemas.microsoft.com/office/drawing/2014/main" id="{0440B536-9DCC-4A7F-8CAF-CEF21FB8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5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act-routing-title">
            <a:extLst xmlns:a="http://schemas.openxmlformats.org/drawingml/2006/main">
              <a:ext uri="{FF2B5EF4-FFF2-40B4-BE49-F238E27FC236}">
                <a16:creationId xmlns:a16="http://schemas.microsoft.com/office/drawing/2014/main" id="{5CF0EAF3-1884-4FDB-A76A-2CBA2824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482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模型可调用的本地统计工具</a:t>
            </a:r>
          </a:p>
        </p:txBody>
      </p:sp>
      <p:sp>
        <p:nvSpPr>
          <p:cNvPr id="23" name="react-routing-tools">
            <a:extLst xmlns:a="http://schemas.openxmlformats.org/drawingml/2006/main">
              <a:ext uri="{FF2B5EF4-FFF2-40B4-BE49-F238E27FC236}">
                <a16:creationId xmlns:a16="http://schemas.microsoft.com/office/drawing/2014/main" id="{BC8F5C07-E33B-41C8-9E47-04DC2631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625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6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6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6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6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6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6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6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6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6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6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6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463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get_dataset_info · clean_data · get_standard</a:t>
            </a:r>
          </a:p>
          <a:p xmlns:a="http://schemas.openxmlformats.org/drawingml/2006/main">
            <a:pPr algn="l">
              <a:defRPr sz="146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463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analyze_air_quality · validate_result · render_visualization</a:t>
            </a:r>
          </a:p>
        </p:txBody>
      </p:sp>
      <p:sp>
        <p:nvSpPr>
          <p:cNvPr id="24" name="react-offline-banner">
            <a:extLst xmlns:a="http://schemas.openxmlformats.org/drawingml/2006/main">
              <a:ext uri="{FF2B5EF4-FFF2-40B4-BE49-F238E27FC236}">
                <a16:creationId xmlns:a16="http://schemas.microsoft.com/office/drawing/2014/main" id="{3B43ED0A-5BB5-4D56-9685-0BCB7820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6680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153D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act-offline-note">
            <a:extLst xmlns:a="http://schemas.openxmlformats.org/drawingml/2006/main">
              <a:ext uri="{FF2B5EF4-FFF2-40B4-BE49-F238E27FC236}">
                <a16:creationId xmlns:a16="http://schemas.microsoft.com/office/drawing/2014/main" id="{C7A36C18-11FF-4BA0-9821-63D3D831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198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rPr>
              <a:t>DeepSeek Flash 理解与调度；CSV / SQLite 统计留在本机。</a:t>
            </a:r>
          </a:p>
        </p:txBody>
      </p:sp>
    </p:spTree>
    <p:extLst>
      <p:ext uri="{BB962C8B-B14F-4D97-AF65-F5344CB8AC3E}">
        <p14:creationId xmlns:p14="http://schemas.microsoft.com/office/powerpoint/2010/main" val="377568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99B4BA-DA39-4FD5-B4CE-9170FB9DA38B}"/>
              </a:ext>
            </a:extLst>
          </p:cNvPr>
          <p:cNvCxnSpPr>
            <a:stCxn xmlns:a="http://schemas.openxmlformats.org/drawingml/2006/main" id="22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5524500" y="46482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A9D7A"/>
            </a:solidFill>
            <a:prstDash val="solid"/>
            <a:tailEnd type="arrow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A18D0E-9195-4C54-9633-7FC04F8C3B75}"/>
              </a:ext>
            </a:extLst>
          </p:cNvPr>
          <p:cNvCxnSpPr>
            <a:stCxn xmlns:a="http://schemas.openxmlformats.org/drawingml/2006/main" id="25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8229600" y="46482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A9D7A"/>
            </a:solidFill>
            <a:prstDash val="solid"/>
            <a:tailEnd type="arrow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1C1D2C-EDC9-4F3A-9740-EAA72D174F9A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9867900" y="3181350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A9D7A"/>
            </a:solidFill>
            <a:prstDash val="solid"/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48465A-24C9-42FC-829A-5B896AC2DC48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229600" y="26479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A9D7A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E05D9-0758-4F5C-883A-174BE631B54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524500" y="26479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A9D7A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C05FD-D291-44DD-AC6A-D176E90C56C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19400" y="26479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A9D7A"/>
            </a:solidFill>
            <a:prstDash val="solid"/>
            <a:tailEnd type="arrow" w="med" len="med"/>
          </a:ln>
        </p:spPr>
      </p:cxnSp>
      <p:sp>
        <p:nvSpPr>
          <p:cNvPr id="3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5D081B74-85D1-4056-92A5-362C0916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0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模型调度与本地数据处理</a:t>
            </a:r>
          </a:p>
        </p:txBody>
      </p:sp>
      <p:sp>
        <p:nvSpPr>
          <p:cNvPr id="2" name="slide-4-accent">
            <a:extLst xmlns:a="http://schemas.openxmlformats.org/drawingml/2006/main">
              <a:ext uri="{FF2B5EF4-FFF2-40B4-BE49-F238E27FC236}">
                <a16:creationId xmlns:a16="http://schemas.microsoft.com/office/drawing/2014/main" id="{2CC355E2-DFAC-4CFB-8882-30FAA764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rchitecture-caption">
            <a:extLst xmlns:a="http://schemas.openxmlformats.org/drawingml/2006/main">
              <a:ext uri="{FF2B5EF4-FFF2-40B4-BE49-F238E27FC236}">
                <a16:creationId xmlns:a16="http://schemas.microsoft.com/office/drawing/2014/main" id="{8D50B5EC-FCD2-4583-A344-75C35102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382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DeepSeek 通过工具请求本机查询；CSV 清洗、SQLite 聚合与统计校验在本机完成。</a:t>
            </a:r>
          </a:p>
        </p:txBody>
      </p:sp>
      <p:sp>
        <p:nvSpPr>
          <p:cNvPr id="4" name="arch-csv">
            <a:extLst xmlns:a="http://schemas.openxmlformats.org/drawingml/2006/main">
              <a:ext uri="{FF2B5EF4-FFF2-40B4-BE49-F238E27FC236}">
                <a16:creationId xmlns:a16="http://schemas.microsoft.com/office/drawing/2014/main" id="{BD84077F-48A4-4DDB-A4DD-12511B21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1336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B7C9BF"/>
            </a:solidFill>
            <a:prstDash val="solid"/>
          </a:ln>
        </p:spPr>
      </p:sp>
      <p:sp>
        <p:nvSpPr>
          <p:cNvPr id="5" name="arch-csv-label">
            <a:extLst xmlns:a="http://schemas.openxmlformats.org/drawingml/2006/main">
              <a:ext uri="{FF2B5EF4-FFF2-40B4-BE49-F238E27FC236}">
                <a16:creationId xmlns:a16="http://schemas.microsoft.com/office/drawing/2014/main" id="{BC6C72CB-9CCD-4BCF-BC40-8B506C97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367 份小时 CSV</a:t>
            </a:r>
          </a:p>
        </p:txBody>
      </p:sp>
      <p:sp>
        <p:nvSpPr>
          <p:cNvPr id="6" name="arch-csv-sub">
            <a:extLst xmlns:a="http://schemas.openxmlformats.org/drawingml/2006/main">
              <a:ext uri="{FF2B5EF4-FFF2-40B4-BE49-F238E27FC236}">
                <a16:creationId xmlns:a16="http://schemas.microsoft.com/office/drawing/2014/main" id="{FE698593-DE64-4AB9-94BD-29673435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逐日来源归档</a:t>
            </a:r>
          </a:p>
        </p:txBody>
      </p:sp>
      <p:sp>
        <p:nvSpPr>
          <p:cNvPr id="7" name="arch-clean">
            <a:extLst xmlns:a="http://schemas.openxmlformats.org/drawingml/2006/main">
              <a:ext uri="{FF2B5EF4-FFF2-40B4-BE49-F238E27FC236}">
                <a16:creationId xmlns:a16="http://schemas.microsoft.com/office/drawing/2014/main" id="{A03204E1-0DCC-4B5E-84F6-27EB593E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1336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B7C9BF"/>
            </a:solidFill>
            <a:prstDash val="solid"/>
          </a:ln>
        </p:spPr>
      </p:sp>
      <p:sp>
        <p:nvSpPr>
          <p:cNvPr id="8" name="arch-clean-label">
            <a:extLst xmlns:a="http://schemas.openxmlformats.org/drawingml/2006/main">
              <a:ext uri="{FF2B5EF4-FFF2-40B4-BE49-F238E27FC236}">
                <a16:creationId xmlns:a16="http://schemas.microsoft.com/office/drawing/2014/main" id="{4E9DF32D-15E9-437B-92D2-1320E620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日值重算与清洗</a:t>
            </a:r>
          </a:p>
        </p:txBody>
      </p:sp>
      <p:sp>
        <p:nvSpPr>
          <p:cNvPr id="9" name="arch-clean-sub">
            <a:extLst xmlns:a="http://schemas.openxmlformats.org/drawingml/2006/main">
              <a:ext uri="{FF2B5EF4-FFF2-40B4-BE49-F238E27FC236}">
                <a16:creationId xmlns:a16="http://schemas.microsoft.com/office/drawing/2014/main" id="{EE56AF51-2138-444F-85E4-69EB28B8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860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313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有效小时 / O₃滑窗 / 缺失</a:t>
            </a:r>
          </a:p>
        </p:txBody>
      </p:sp>
      <p:sp>
        <p:nvSpPr>
          <p:cNvPr id="10" name="arch-sqlite">
            <a:extLst xmlns:a="http://schemas.openxmlformats.org/drawingml/2006/main">
              <a:ext uri="{FF2B5EF4-FFF2-40B4-BE49-F238E27FC236}">
                <a16:creationId xmlns:a16="http://schemas.microsoft.com/office/drawing/2014/main" id="{81C86A97-E556-459F-BFCC-1308B0B1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21336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B7C9BF"/>
            </a:solidFill>
            <a:prstDash val="solid"/>
          </a:ln>
        </p:spPr>
      </p:sp>
      <p:sp>
        <p:nvSpPr>
          <p:cNvPr id="11" name="arch-sqlite-label">
            <a:extLst xmlns:a="http://schemas.openxmlformats.org/drawingml/2006/main">
              <a:ext uri="{FF2B5EF4-FFF2-40B4-BE49-F238E27FC236}">
                <a16:creationId xmlns:a16="http://schemas.microsoft.com/office/drawing/2014/main" id="{C4DB69F5-FD7D-41F0-90AB-E3FE611E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669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SQLite</a:t>
            </a:r>
          </a:p>
        </p:txBody>
      </p:sp>
      <p:sp>
        <p:nvSpPr>
          <p:cNvPr id="12" name="arch-sqlite-sub">
            <a:extLst xmlns:a="http://schemas.openxmlformats.org/drawingml/2006/main">
              <a:ext uri="{FF2B5EF4-FFF2-40B4-BE49-F238E27FC236}">
                <a16:creationId xmlns:a16="http://schemas.microsoft.com/office/drawing/2014/main" id="{FCF06938-002B-4BAB-80F3-B0B0B84E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125,172 条城市日</a:t>
            </a:r>
          </a:p>
        </p:txBody>
      </p:sp>
      <p:sp>
        <p:nvSpPr>
          <p:cNvPr id="13" name="arch-aggregate">
            <a:extLst xmlns:a="http://schemas.openxmlformats.org/drawingml/2006/main">
              <a:ext uri="{FF2B5EF4-FFF2-40B4-BE49-F238E27FC236}">
                <a16:creationId xmlns:a16="http://schemas.microsoft.com/office/drawing/2014/main" id="{A3648C65-4F49-4FA1-A411-1DF67B95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14550"/>
            <a:ext cx="21336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B7C9BF"/>
            </a:solidFill>
            <a:prstDash val="solid"/>
          </a:ln>
        </p:spPr>
      </p:sp>
      <p:sp>
        <p:nvSpPr>
          <p:cNvPr id="14" name="arch-aggregate-label">
            <a:extLst xmlns:a="http://schemas.openxmlformats.org/drawingml/2006/main">
              <a:ext uri="{FF2B5EF4-FFF2-40B4-BE49-F238E27FC236}">
                <a16:creationId xmlns:a16="http://schemas.microsoft.com/office/drawing/2014/main" id="{989AD56F-8833-4E27-A938-687F71E6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669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查询聚合</a:t>
            </a:r>
          </a:p>
        </p:txBody>
      </p:sp>
      <p:sp>
        <p:nvSpPr>
          <p:cNvPr id="15" name="arch-aggregate-sub">
            <a:extLst xmlns:a="http://schemas.openxmlformats.org/drawingml/2006/main">
              <a:ext uri="{FF2B5EF4-FFF2-40B4-BE49-F238E27FC236}">
                <a16:creationId xmlns:a16="http://schemas.microsoft.com/office/drawing/2014/main" id="{DFDE3FE5-06C4-464B-890D-D2DB5304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按计划分组与统计</a:t>
            </a:r>
          </a:p>
        </p:txBody>
      </p:sp>
      <p:sp>
        <p:nvSpPr>
          <p:cNvPr id="19" name="arch-outputs">
            <a:extLst xmlns:a="http://schemas.openxmlformats.org/drawingml/2006/main">
              <a:ext uri="{FF2B5EF4-FFF2-40B4-BE49-F238E27FC236}">
                <a16:creationId xmlns:a16="http://schemas.microsoft.com/office/drawing/2014/main" id="{D5396815-C7A2-456A-B755-85A4A4EB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14800"/>
            <a:ext cx="21336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B7C9BF"/>
            </a:solidFill>
            <a:prstDash val="solid"/>
          </a:ln>
        </p:spPr>
      </p:sp>
      <p:sp>
        <p:nvSpPr>
          <p:cNvPr id="20" name="arch-outputs-label">
            <a:extLst xmlns:a="http://schemas.openxmlformats.org/drawingml/2006/main">
              <a:ext uri="{FF2B5EF4-FFF2-40B4-BE49-F238E27FC236}">
                <a16:creationId xmlns:a16="http://schemas.microsoft.com/office/drawing/2014/main" id="{ABE628E1-FE68-41AC-8A77-EDCD2809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672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SVG 与结果文件</a:t>
            </a:r>
          </a:p>
        </p:txBody>
      </p:sp>
      <p:sp>
        <p:nvSpPr>
          <p:cNvPr id="21" name="arch-outputs-sub">
            <a:extLst xmlns:a="http://schemas.openxmlformats.org/drawingml/2006/main">
              <a:ext uri="{FF2B5EF4-FFF2-40B4-BE49-F238E27FC236}">
                <a16:creationId xmlns:a16="http://schemas.microsoft.com/office/drawing/2014/main" id="{63613AD0-984C-431B-9FBE-FE88A57D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863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JSON / CSV / HTML</a:t>
            </a:r>
          </a:p>
        </p:txBody>
      </p:sp>
      <p:sp>
        <p:nvSpPr>
          <p:cNvPr id="22" name="arch-validate">
            <a:extLst xmlns:a="http://schemas.openxmlformats.org/drawingml/2006/main">
              <a:ext uri="{FF2B5EF4-FFF2-40B4-BE49-F238E27FC236}">
                <a16:creationId xmlns:a16="http://schemas.microsoft.com/office/drawing/2014/main" id="{4372842B-D414-4BE1-8A49-4CB71B4A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21336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B7C9BF"/>
            </a:solidFill>
            <a:prstDash val="solid"/>
          </a:ln>
        </p:spPr>
      </p:sp>
      <p:sp>
        <p:nvSpPr>
          <p:cNvPr id="23" name="arch-validate-label">
            <a:extLst xmlns:a="http://schemas.openxmlformats.org/drawingml/2006/main">
              <a:ext uri="{FF2B5EF4-FFF2-40B4-BE49-F238E27FC236}">
                <a16:creationId xmlns:a16="http://schemas.microsoft.com/office/drawing/2014/main" id="{AAD00CA7-F50F-440E-899E-786B491E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672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结果校验</a:t>
            </a:r>
          </a:p>
        </p:txBody>
      </p:sp>
      <p:sp>
        <p:nvSpPr>
          <p:cNvPr id="24" name="arch-validate-sub">
            <a:extLst xmlns:a="http://schemas.openxmlformats.org/drawingml/2006/main">
              <a:ext uri="{FF2B5EF4-FFF2-40B4-BE49-F238E27FC236}">
                <a16:creationId xmlns:a16="http://schemas.microsoft.com/office/drawing/2014/main" id="{F6C38DDF-479F-4C62-9284-50E2F023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分母 / 覆盖 / 文件</a:t>
            </a:r>
          </a:p>
        </p:txBody>
      </p:sp>
      <p:sp>
        <p:nvSpPr>
          <p:cNvPr id="25" name="arch-standard">
            <a:extLst xmlns:a="http://schemas.openxmlformats.org/drawingml/2006/main">
              <a:ext uri="{FF2B5EF4-FFF2-40B4-BE49-F238E27FC236}">
                <a16:creationId xmlns:a16="http://schemas.microsoft.com/office/drawing/2014/main" id="{7538174F-F74C-4BCD-9998-C105CBB0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14800"/>
            <a:ext cx="21336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14288">
            <a:solidFill>
              <a:srgbClr val="B7C9BF"/>
            </a:solidFill>
            <a:prstDash val="solid"/>
          </a:ln>
        </p:spPr>
      </p:sp>
      <p:sp>
        <p:nvSpPr>
          <p:cNvPr id="26" name="arch-standard-label">
            <a:extLst xmlns:a="http://schemas.openxmlformats.org/drawingml/2006/main">
              <a:ext uri="{FF2B5EF4-FFF2-40B4-BE49-F238E27FC236}">
                <a16:creationId xmlns:a16="http://schemas.microsoft.com/office/drawing/2014/main" id="{8B9649A4-7D6A-4A5F-A4AA-AA6F6166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672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GB 口径对照</a:t>
            </a:r>
          </a:p>
        </p:txBody>
      </p:sp>
      <p:sp>
        <p:nvSpPr>
          <p:cNvPr id="27" name="arch-standard-sub">
            <a:extLst xmlns:a="http://schemas.openxmlformats.org/drawingml/2006/main">
              <a:ext uri="{FF2B5EF4-FFF2-40B4-BE49-F238E27FC236}">
                <a16:creationId xmlns:a16="http://schemas.microsoft.com/office/drawing/2014/main" id="{88A90A1B-E94E-4515-BB84-726434A4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863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年均与日均分开</a:t>
            </a:r>
          </a:p>
        </p:txBody>
      </p:sp>
      <p:sp>
        <p:nvSpPr>
          <p:cNvPr id="31" name="arch-local-note">
            <a:extLst xmlns:a="http://schemas.openxmlformats.org/drawingml/2006/main">
              <a:ext uri="{FF2B5EF4-FFF2-40B4-BE49-F238E27FC236}">
                <a16:creationId xmlns:a16="http://schemas.microsoft.com/office/drawing/2014/main" id="{96D9A0F7-D3F9-4F66-8DDE-1260E7DF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44E43"/>
                </a:solidFill>
                <a:latin typeface="PingFang SC"/>
                <a:ea typeface="PingFang SC"/>
                <a:cs typeface="PingFang SC"/>
              </a:rPr>
              <a:t>统计 observation 实时返回模型；原始 CSV、计算过程与可复核结果保留在本机。</a:t>
            </a:r>
          </a:p>
        </p:txBody>
      </p:sp>
    </p:spTree>
    <p:extLst>
      <p:ext uri="{BB962C8B-B14F-4D97-AF65-F5344CB8AC3E}">
        <p14:creationId xmlns:p14="http://schemas.microsoft.com/office/powerpoint/2010/main" val="14969105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13793398-593A-4A11-B152-102005CD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0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年均、日均与有效分母</a:t>
            </a:r>
          </a:p>
        </p:txBody>
      </p:sp>
      <p:sp>
        <p:nvSpPr>
          <p:cNvPr id="2" name="slide-5-accent">
            <a:extLst xmlns:a="http://schemas.openxmlformats.org/drawingml/2006/main">
              <a:ext uri="{FF2B5EF4-FFF2-40B4-BE49-F238E27FC236}">
                <a16:creationId xmlns:a16="http://schemas.microsoft.com/office/drawing/2014/main" id="{BD93A02E-5188-4856-8F94-A5417C5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andard-citation">
            <a:extLst xmlns:a="http://schemas.openxmlformats.org/drawingml/2006/main">
              <a:ext uri="{FF2B5EF4-FFF2-40B4-BE49-F238E27FC236}">
                <a16:creationId xmlns:a16="http://schemas.microsoft.com/office/drawing/2014/main" id="{A269E30B-35EC-4193-8F6D-239E3B9A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GB 3095—2012 二级，按赛事指定口径</a:t>
            </a:r>
          </a:p>
        </p:txBody>
      </p:sp>
      <p:sp>
        <p:nvSpPr>
          <p:cNvPr id="4" name="annual-number">
            <a:extLst xmlns:a="http://schemas.openxmlformats.org/drawingml/2006/main">
              <a:ext uri="{FF2B5EF4-FFF2-40B4-BE49-F238E27FC236}">
                <a16:creationId xmlns:a16="http://schemas.microsoft.com/office/drawing/2014/main" id="{C477C007-5A7F-4E3E-8E7B-15F99D07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247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6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66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66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66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66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66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66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66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66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66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pPr>
            <a:r>
              <a:rPr sz="6600" b="1">
                <a:solidFill>
                  <a:srgbClr val="2A9D7A"/>
                </a:solidFill>
                <a:latin typeface="PingFang SC"/>
                <a:ea typeface="PingFang SC"/>
                <a:cs typeface="PingFang SC"/>
              </a:rPr>
              <a:t>35</a:t>
            </a:r>
          </a:p>
        </p:txBody>
      </p:sp>
      <p:sp>
        <p:nvSpPr>
          <p:cNvPr id="5" name="annual-label">
            <a:extLst xmlns:a="http://schemas.openxmlformats.org/drawingml/2006/main">
              <a:ext uri="{FF2B5EF4-FFF2-40B4-BE49-F238E27FC236}">
                <a16:creationId xmlns:a16="http://schemas.microsoft.com/office/drawing/2014/main" id="{8DBE4A7C-E4E7-4294-AC0C-810BA50B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PM2.5 年均限值</a:t>
            </a:r>
          </a:p>
          <a:p xmlns:a="http://schemas.openxmlformats.org/drawingml/2006/main">
            <a: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单位：μg/m³</a:t>
            </a:r>
          </a:p>
        </p:txBody>
      </p:sp>
      <p:sp>
        <p:nvSpPr>
          <p:cNvPr id="6" name="threshold-divider">
            <a:extLst xmlns:a="http://schemas.openxmlformats.org/drawingml/2006/main">
              <a:ext uri="{FF2B5EF4-FFF2-40B4-BE49-F238E27FC236}">
                <a16:creationId xmlns:a16="http://schemas.microsoft.com/office/drawing/2014/main" id="{818B3281-B578-48BA-9829-78DE6969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981200"/>
            <a:ext cx="190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aily-number">
            <a:extLst xmlns:a="http://schemas.openxmlformats.org/drawingml/2006/main">
              <a:ext uri="{FF2B5EF4-FFF2-40B4-BE49-F238E27FC236}">
                <a16:creationId xmlns:a16="http://schemas.microsoft.com/office/drawing/2014/main" id="{58F6F860-C9EA-4579-976F-1D9789CB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81200"/>
            <a:ext cx="247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6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66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66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66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66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66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66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66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66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66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660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75</a:t>
            </a:r>
          </a:p>
        </p:txBody>
      </p:sp>
      <p:sp>
        <p:nvSpPr>
          <p:cNvPr id="8" name="daily-label">
            <a:extLst xmlns:a="http://schemas.openxmlformats.org/drawingml/2006/main">
              <a:ext uri="{FF2B5EF4-FFF2-40B4-BE49-F238E27FC236}">
                <a16:creationId xmlns:a16="http://schemas.microsoft.com/office/drawing/2014/main" id="{313ADA7B-80B0-4F5E-93E1-E9392E76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05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PM2.5 日均限值</a:t>
            </a:r>
          </a:p>
          <a:p xmlns:a="http://schemas.openxmlformats.org/drawingml/2006/main">
            <a: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单位：μg/m³</a:t>
            </a:r>
          </a:p>
        </p:txBody>
      </p:sp>
      <p:sp>
        <p:nvSpPr>
          <p:cNvPr id="9" name="denominator-heading">
            <a:extLst xmlns:a="http://schemas.openxmlformats.org/drawingml/2006/main">
              <a:ext uri="{FF2B5EF4-FFF2-40B4-BE49-F238E27FC236}">
                <a16:creationId xmlns:a16="http://schemas.microsoft.com/office/drawing/2014/main" id="{AF211169-4D91-4F3A-91CC-C7F7008E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缺失日不进入平均分母</a:t>
            </a:r>
          </a:p>
        </p:txBody>
      </p:sp>
      <p:sp>
        <p:nvSpPr>
          <p:cNvPr id="10" name="denominator-equation">
            <a:extLst xmlns:a="http://schemas.openxmlformats.org/drawingml/2006/main">
              <a:ext uri="{FF2B5EF4-FFF2-40B4-BE49-F238E27FC236}">
                <a16:creationId xmlns:a16="http://schemas.microsoft.com/office/drawing/2014/main" id="{911B8AB0-6E0D-4E8A-8B82-454245A0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5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5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5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5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5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5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5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5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5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A9D7A"/>
                </a:solidFill>
                <a:latin typeface="PingFang SC"/>
                <a:ea typeface="PingFang SC"/>
                <a:cs typeface="PingFang SC"/>
              </a:rPr>
              <a:t>(30 + 40 + 50) ÷ 3 = 40 μg/m³</a:t>
            </a:r>
          </a:p>
        </p:txBody>
      </p:sp>
      <p:sp>
        <p:nvSpPr>
          <p:cNvPr id="11" name="denominator-explanation">
            <a:extLst xmlns:a="http://schemas.openxmlformats.org/drawingml/2006/main">
              <a:ext uri="{FF2B5EF4-FFF2-40B4-BE49-F238E27FC236}">
                <a16:creationId xmlns:a16="http://schemas.microsoft.com/office/drawing/2014/main" id="{D3872BD9-3A31-4EF7-B51A-AB716614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三条有效日记录的口径演算示例，不代表本次数据结果。</a:t>
            </a:r>
          </a:p>
        </p:txBody>
      </p:sp>
      <p:sp>
        <p:nvSpPr>
          <p:cNvPr id="12" name="validity-note-block">
            <a:extLst xmlns:a="http://schemas.openxmlformats.org/drawingml/2006/main">
              <a:ext uri="{FF2B5EF4-FFF2-40B4-BE49-F238E27FC236}">
                <a16:creationId xmlns:a16="http://schemas.microsoft.com/office/drawing/2014/main" id="{E8B4A1E5-3A5A-4008-BC42-A073FD15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6299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E7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lidity-note">
            <a:extLst xmlns:a="http://schemas.openxmlformats.org/drawingml/2006/main">
              <a:ext uri="{FF2B5EF4-FFF2-40B4-BE49-F238E27FC236}">
                <a16:creationId xmlns:a16="http://schemas.microsoft.com/office/drawing/2014/main" id="{C6CA1D1E-7FC4-4BCA-91E0-E76024D1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19750"/>
            <a:ext cx="1014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年度有效性：全年至少 324 个有效日，且各月达到完整月要求（2 月至少 25 日，其余月份至少 27 日）。不足时不作年度判定。</a:t>
            </a:r>
          </a:p>
        </p:txBody>
      </p:sp>
    </p:spTree>
    <p:extLst>
      <p:ext uri="{BB962C8B-B14F-4D97-AF65-F5344CB8AC3E}">
        <p14:creationId xmlns:p14="http://schemas.microsoft.com/office/powerpoint/2010/main" val="12538539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53D25F1C-1825-4F80-BCBF-6830B1DE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0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真实 DeepSeek 结果：2024 PM2.5 年均 Top 5</a:t>
            </a:r>
          </a:p>
        </p:txBody>
      </p:sp>
      <p:sp>
        <p:nvSpPr>
          <p:cNvPr id="2" name="slide-6-accent">
            <a:extLst xmlns:a="http://schemas.openxmlformats.org/drawingml/2006/main">
              <a:ext uri="{FF2B5EF4-FFF2-40B4-BE49-F238E27FC236}">
                <a16:creationId xmlns:a16="http://schemas.microsoft.com/office/drawing/2014/main" id="{232D3A63-1F04-4A88-A53B-EA187B85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sult-scope">
            <a:extLst xmlns:a="http://schemas.openxmlformats.org/drawingml/2006/main">
              <a:ext uri="{FF2B5EF4-FFF2-40B4-BE49-F238E27FC236}">
                <a16:creationId xmlns:a16="http://schemas.microsoft.com/office/drawing/2014/main" id="{998680D6-1FD2-45B5-ADA0-7BA9BC2C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1062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125,172 城市日  ·  342 个活跃地区  ·  367/367 份小时数据文件  ·  deepseek-flash</a:t>
            </a:r>
          </a:p>
        </p:txBody>
      </p:sp>
      <p:sp>
        <p:nvSpPr>
          <p:cNvPr id="4" name="result-ranking-card">
            <a:extLst xmlns:a="http://schemas.openxmlformats.org/drawingml/2006/main">
              <a:ext uri="{FF2B5EF4-FFF2-40B4-BE49-F238E27FC236}">
                <a16:creationId xmlns:a16="http://schemas.microsoft.com/office/drawing/2014/main" id="{92E7970E-0FA8-4D9D-A862-64F50F89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4953000" cy="3486150"/>
          </a:xfrm>
          <a:prstGeom xmlns:a="http://schemas.openxmlformats.org/drawingml/2006/main" prst="roundRect">
            <a:avLst>
              <a:gd name="adj" fmla="val 3825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B7C9BF"/>
            </a:solidFill>
            <a:prstDash val="solid"/>
          </a:ln>
        </p:spPr>
      </p:sp>
      <p:sp>
        <p:nvSpPr>
          <p:cNvPr id="5" name="result-chart-title">
            <a:extLst xmlns:a="http://schemas.openxmlformats.org/drawingml/2006/main">
              <a:ext uri="{FF2B5EF4-FFF2-40B4-BE49-F238E27FC236}">
                <a16:creationId xmlns:a16="http://schemas.microsoft.com/office/drawing/2014/main" id="{BF34711F-0B5B-4CE6-9A0B-834E5FEF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669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PM2.5 年均值</a:t>
            </a:r>
          </a:p>
        </p:txBody>
      </p:sp>
      <p:sp>
        <p:nvSpPr>
          <p:cNvPr id="6" name="result-chart-unit">
            <a:extLst xmlns:a="http://schemas.openxmlformats.org/drawingml/2006/main">
              <a:ext uri="{FF2B5EF4-FFF2-40B4-BE49-F238E27FC236}">
                <a16:creationId xmlns:a16="http://schemas.microsoft.com/office/drawing/2014/main" id="{64F5F0DE-518F-48B2-AAD6-0835E2DE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μg/m³</a:t>
            </a:r>
          </a:p>
        </p:txBody>
      </p:sp>
      <p:sp>
        <p:nvSpPr>
          <p:cNvPr id="7" name="result-chart-scale">
            <a:extLst xmlns:a="http://schemas.openxmlformats.org/drawingml/2006/main">
              <a:ext uri="{FF2B5EF4-FFF2-40B4-BE49-F238E27FC236}">
                <a16:creationId xmlns:a16="http://schemas.microsoft.com/office/drawing/2014/main" id="{D78DDC60-3309-44F6-B440-EC2A761A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400300"/>
            <a:ext cx="228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8" name="result-threshold-scale">
            <a:extLst xmlns:a="http://schemas.openxmlformats.org/drawingml/2006/main">
              <a:ext uri="{FF2B5EF4-FFF2-40B4-BE49-F238E27FC236}">
                <a16:creationId xmlns:a16="http://schemas.microsoft.com/office/drawing/2014/main" id="{7A1462A6-0E02-463E-A80A-1907BE21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00300"/>
            <a:ext cx="304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D8AD67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125" b="1">
                <a:solidFill>
                  <a:srgbClr val="D8AD67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125" b="1">
                <a:solidFill>
                  <a:srgbClr val="D8AD67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125" b="1">
                <a:solidFill>
                  <a:srgbClr val="D8AD67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125" b="1">
                <a:solidFill>
                  <a:srgbClr val="D8AD67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125" b="1">
                <a:solidFill>
                  <a:srgbClr val="D8AD67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125" b="1">
                <a:solidFill>
                  <a:srgbClr val="D8AD67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125" b="1">
                <a:solidFill>
                  <a:srgbClr val="D8AD67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125" b="1">
                <a:solidFill>
                  <a:srgbClr val="D8AD67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125" b="1">
                <a:solidFill>
                  <a:srgbClr val="D8AD6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D8AD6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8AD67"/>
                </a:solidFill>
                <a:latin typeface="PingFang SC"/>
                <a:ea typeface="PingFang SC"/>
                <a:cs typeface="PingFang SC"/>
              </a:rPr>
              <a:t>35</a:t>
            </a:r>
          </a:p>
        </p:txBody>
      </p:sp>
      <p:sp>
        <p:nvSpPr>
          <p:cNvPr id="9" name="result-chart-max">
            <a:extLst xmlns:a="http://schemas.openxmlformats.org/drawingml/2006/main">
              <a:ext uri="{FF2B5EF4-FFF2-40B4-BE49-F238E27FC236}">
                <a16:creationId xmlns:a16="http://schemas.microsoft.com/office/drawing/2014/main" id="{6320F6F7-F9C7-488E-BA08-AA05CE48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4003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10" name="result-threshold-line">
            <a:extLst xmlns:a="http://schemas.openxmlformats.org/drawingml/2006/main">
              <a:ext uri="{FF2B5EF4-FFF2-40B4-BE49-F238E27FC236}">
                <a16:creationId xmlns:a16="http://schemas.microsoft.com/office/drawing/2014/main" id="{DB23B280-B7D1-44A8-AB9D-5503577C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220" y="2609850"/>
            <a:ext cx="190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D6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sult-rank-1">
            <a:extLst xmlns:a="http://schemas.openxmlformats.org/drawingml/2006/main">
              <a:ext uri="{FF2B5EF4-FFF2-40B4-BE49-F238E27FC236}">
                <a16:creationId xmlns:a16="http://schemas.microsoft.com/office/drawing/2014/main" id="{69D12744-49F4-43FE-8B01-EFC2A115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695575"/>
            <a:ext cx="295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2" name="result-city-1">
            <a:extLst xmlns:a="http://schemas.openxmlformats.org/drawingml/2006/main">
              <a:ext uri="{FF2B5EF4-FFF2-40B4-BE49-F238E27FC236}">
                <a16:creationId xmlns:a16="http://schemas.microsoft.com/office/drawing/2014/main" id="{375CFABA-FF33-4B65-A4EE-4DEC30E0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86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和田地区</a:t>
            </a:r>
          </a:p>
        </p:txBody>
      </p:sp>
      <p:sp>
        <p:nvSpPr>
          <p:cNvPr id="13" name="result-bar-track-1">
            <a:extLst xmlns:a="http://schemas.openxmlformats.org/drawingml/2006/main">
              <a:ext uri="{FF2B5EF4-FFF2-40B4-BE49-F238E27FC236}">
                <a16:creationId xmlns:a16="http://schemas.microsoft.com/office/drawing/2014/main" id="{A1DB03B3-C868-49F3-BFC8-A6B2F650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9875"/>
            <a:ext cx="1219200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7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sult-bar-1">
            <a:extLst xmlns:a="http://schemas.openxmlformats.org/drawingml/2006/main">
              <a:ext uri="{FF2B5EF4-FFF2-40B4-BE49-F238E27FC236}">
                <a16:creationId xmlns:a16="http://schemas.microsoft.com/office/drawing/2014/main" id="{0010C531-2F24-4F4C-8A4C-EEEA64E1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9875"/>
            <a:ext cx="1077651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A9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sult-mean-1">
            <a:extLst xmlns:a="http://schemas.openxmlformats.org/drawingml/2006/main">
              <a:ext uri="{FF2B5EF4-FFF2-40B4-BE49-F238E27FC236}">
                <a16:creationId xmlns:a16="http://schemas.microsoft.com/office/drawing/2014/main" id="{D9B1D9DF-6D73-4E5F-A2F1-F59281B1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9557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88.39</a:t>
            </a:r>
          </a:p>
        </p:txBody>
      </p:sp>
      <p:sp>
        <p:nvSpPr>
          <p:cNvPr id="16" name="result-days-1">
            <a:extLst xmlns:a="http://schemas.openxmlformats.org/drawingml/2006/main">
              <a:ext uri="{FF2B5EF4-FFF2-40B4-BE49-F238E27FC236}">
                <a16:creationId xmlns:a16="http://schemas.microsoft.com/office/drawing/2014/main" id="{E2C80F2D-DAD1-455F-BE59-36919929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527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361/366 日</a:t>
            </a:r>
          </a:p>
        </p:txBody>
      </p:sp>
      <p:sp>
        <p:nvSpPr>
          <p:cNvPr id="17" name="result-rank-2">
            <a:extLst xmlns:a="http://schemas.openxmlformats.org/drawingml/2006/main">
              <a:ext uri="{FF2B5EF4-FFF2-40B4-BE49-F238E27FC236}">
                <a16:creationId xmlns:a16="http://schemas.microsoft.com/office/drawing/2014/main" id="{D02B8D5C-F2B7-4478-9581-448F8754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62300"/>
            <a:ext cx="295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8" name="result-city-2">
            <a:extLst xmlns:a="http://schemas.openxmlformats.org/drawingml/2006/main">
              <a:ext uri="{FF2B5EF4-FFF2-40B4-BE49-F238E27FC236}">
                <a16:creationId xmlns:a16="http://schemas.microsoft.com/office/drawing/2014/main" id="{46A5A46C-1D10-42D3-99F5-BE71C59A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527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喀什地区</a:t>
            </a:r>
          </a:p>
        </p:txBody>
      </p:sp>
      <p:sp>
        <p:nvSpPr>
          <p:cNvPr id="19" name="result-bar-track-2">
            <a:extLst xmlns:a="http://schemas.openxmlformats.org/drawingml/2006/main">
              <a:ext uri="{FF2B5EF4-FFF2-40B4-BE49-F238E27FC236}">
                <a16:creationId xmlns:a16="http://schemas.microsoft.com/office/drawing/2014/main" id="{02C018AF-9211-4B7F-8799-E4846580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76600"/>
            <a:ext cx="1219200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7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sult-bar-2">
            <a:extLst xmlns:a="http://schemas.openxmlformats.org/drawingml/2006/main">
              <a:ext uri="{FF2B5EF4-FFF2-40B4-BE49-F238E27FC236}">
                <a16:creationId xmlns:a16="http://schemas.microsoft.com/office/drawing/2014/main" id="{0FA7E25D-3FA4-4D1E-90D5-345504DC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76600"/>
            <a:ext cx="734812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A9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sult-mean-2">
            <a:extLst xmlns:a="http://schemas.openxmlformats.org/drawingml/2006/main">
              <a:ext uri="{FF2B5EF4-FFF2-40B4-BE49-F238E27FC236}">
                <a16:creationId xmlns:a16="http://schemas.microsoft.com/office/drawing/2014/main" id="{9D056223-8C2C-4C9D-960C-26A26084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62300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60.27</a:t>
            </a:r>
          </a:p>
        </p:txBody>
      </p:sp>
      <p:sp>
        <p:nvSpPr>
          <p:cNvPr id="22" name="result-days-2">
            <a:extLst xmlns:a="http://schemas.openxmlformats.org/drawingml/2006/main">
              <a:ext uri="{FF2B5EF4-FFF2-40B4-BE49-F238E27FC236}">
                <a16:creationId xmlns:a16="http://schemas.microsoft.com/office/drawing/2014/main" id="{2E2350F5-5E87-4C81-823F-5C206E40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1947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361/366 日</a:t>
            </a:r>
          </a:p>
        </p:txBody>
      </p:sp>
      <p:sp>
        <p:nvSpPr>
          <p:cNvPr id="23" name="result-rank-3">
            <a:extLst xmlns:a="http://schemas.openxmlformats.org/drawingml/2006/main">
              <a:ext uri="{FF2B5EF4-FFF2-40B4-BE49-F238E27FC236}">
                <a16:creationId xmlns:a16="http://schemas.microsoft.com/office/drawing/2014/main" id="{BAF89393-A899-4D70-8830-83336A87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29025"/>
            <a:ext cx="295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4" name="result-city-3">
            <a:extLst xmlns:a="http://schemas.openxmlformats.org/drawingml/2006/main">
              <a:ext uri="{FF2B5EF4-FFF2-40B4-BE49-F238E27FC236}">
                <a16:creationId xmlns:a16="http://schemas.microsoft.com/office/drawing/2014/main" id="{EDC344E6-33CA-4C36-9066-D53C8281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195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958"/>
          </a:bodyPr>
          <a:lstStyle xmlns:a="http://schemas.openxmlformats.org/drawingml/2006/main">
            <a:defPPr algn="l">
              <a:defRPr sz="12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克孜勒苏柯尔克孜自治州</a:t>
            </a:r>
          </a:p>
        </p:txBody>
      </p:sp>
      <p:sp>
        <p:nvSpPr>
          <p:cNvPr id="25" name="result-bar-track-3">
            <a:extLst xmlns:a="http://schemas.openxmlformats.org/drawingml/2006/main">
              <a:ext uri="{FF2B5EF4-FFF2-40B4-BE49-F238E27FC236}">
                <a16:creationId xmlns:a16="http://schemas.microsoft.com/office/drawing/2014/main" id="{DE77CAD5-DDBA-45C2-BC32-3EC69FDD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43325"/>
            <a:ext cx="1219200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7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sult-bar-3">
            <a:extLst xmlns:a="http://schemas.openxmlformats.org/drawingml/2006/main">
              <a:ext uri="{FF2B5EF4-FFF2-40B4-BE49-F238E27FC236}">
                <a16:creationId xmlns:a16="http://schemas.microsoft.com/office/drawing/2014/main" id="{3D1021C8-B917-47EF-8BC3-28C57CE8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43325"/>
            <a:ext cx="654345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A9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sult-mean-3">
            <a:extLst xmlns:a="http://schemas.openxmlformats.org/drawingml/2006/main">
              <a:ext uri="{FF2B5EF4-FFF2-40B4-BE49-F238E27FC236}">
                <a16:creationId xmlns:a16="http://schemas.microsoft.com/office/drawing/2014/main" id="{BB580F0B-41C1-4625-AEB4-4045822C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2902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53.67</a:t>
            </a:r>
          </a:p>
        </p:txBody>
      </p:sp>
      <p:sp>
        <p:nvSpPr>
          <p:cNvPr id="28" name="result-days-3">
            <a:extLst xmlns:a="http://schemas.openxmlformats.org/drawingml/2006/main">
              <a:ext uri="{FF2B5EF4-FFF2-40B4-BE49-F238E27FC236}">
                <a16:creationId xmlns:a16="http://schemas.microsoft.com/office/drawing/2014/main" id="{C5354021-DB7E-4D6F-886C-2CE094C1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862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361/366 日</a:t>
            </a:r>
          </a:p>
        </p:txBody>
      </p:sp>
      <p:sp>
        <p:nvSpPr>
          <p:cNvPr id="29" name="result-rank-4">
            <a:extLst xmlns:a="http://schemas.openxmlformats.org/drawingml/2006/main">
              <a:ext uri="{FF2B5EF4-FFF2-40B4-BE49-F238E27FC236}">
                <a16:creationId xmlns:a16="http://schemas.microsoft.com/office/drawing/2014/main" id="{96196372-63C0-4382-8879-D9574871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95750"/>
            <a:ext cx="295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0" name="result-city-4">
            <a:extLst xmlns:a="http://schemas.openxmlformats.org/drawingml/2006/main">
              <a:ext uri="{FF2B5EF4-FFF2-40B4-BE49-F238E27FC236}">
                <a16:creationId xmlns:a16="http://schemas.microsoft.com/office/drawing/2014/main" id="{88CB2F59-DE8F-42F5-A292-0EC883E7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862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安阳</a:t>
            </a:r>
          </a:p>
        </p:txBody>
      </p:sp>
      <p:sp>
        <p:nvSpPr>
          <p:cNvPr id="31" name="result-bar-track-4">
            <a:extLst xmlns:a="http://schemas.openxmlformats.org/drawingml/2006/main">
              <a:ext uri="{FF2B5EF4-FFF2-40B4-BE49-F238E27FC236}">
                <a16:creationId xmlns:a16="http://schemas.microsoft.com/office/drawing/2014/main" id="{9E6AB69E-79F6-4519-9D8A-4C36C845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1219200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7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sult-bar-4">
            <a:extLst xmlns:a="http://schemas.openxmlformats.org/drawingml/2006/main">
              <a:ext uri="{FF2B5EF4-FFF2-40B4-BE49-F238E27FC236}">
                <a16:creationId xmlns:a16="http://schemas.microsoft.com/office/drawing/2014/main" id="{A3F07635-6334-4D6A-AFE2-41A18ABC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616062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A9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sult-mean-4">
            <a:extLst xmlns:a="http://schemas.openxmlformats.org/drawingml/2006/main">
              <a:ext uri="{FF2B5EF4-FFF2-40B4-BE49-F238E27FC236}">
                <a16:creationId xmlns:a16="http://schemas.microsoft.com/office/drawing/2014/main" id="{BC0DD679-6329-4B16-A6DC-1E8C458C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095750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50.53</a:t>
            </a:r>
          </a:p>
        </p:txBody>
      </p:sp>
      <p:sp>
        <p:nvSpPr>
          <p:cNvPr id="34" name="result-days-4">
            <a:extLst xmlns:a="http://schemas.openxmlformats.org/drawingml/2006/main">
              <a:ext uri="{FF2B5EF4-FFF2-40B4-BE49-F238E27FC236}">
                <a16:creationId xmlns:a16="http://schemas.microsoft.com/office/drawing/2014/main" id="{07F33D78-D592-44E6-B45B-CB36C950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529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361/366 日</a:t>
            </a:r>
          </a:p>
        </p:txBody>
      </p:sp>
      <p:sp>
        <p:nvSpPr>
          <p:cNvPr id="35" name="result-rank-5">
            <a:extLst xmlns:a="http://schemas.openxmlformats.org/drawingml/2006/main">
              <a:ext uri="{FF2B5EF4-FFF2-40B4-BE49-F238E27FC236}">
                <a16:creationId xmlns:a16="http://schemas.microsoft.com/office/drawing/2014/main" id="{A02642C3-AD5B-4491-9D46-09258B65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562475"/>
            <a:ext cx="295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A9D7A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36" name="result-city-5">
            <a:extLst xmlns:a="http://schemas.openxmlformats.org/drawingml/2006/main">
              <a:ext uri="{FF2B5EF4-FFF2-40B4-BE49-F238E27FC236}">
                <a16:creationId xmlns:a16="http://schemas.microsoft.com/office/drawing/2014/main" id="{D9440BD6-4215-48BB-B4FE-AB1EDDA3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529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鹤壁</a:t>
            </a:r>
          </a:p>
        </p:txBody>
      </p:sp>
      <p:sp>
        <p:nvSpPr>
          <p:cNvPr id="37" name="result-bar-track-5">
            <a:extLst xmlns:a="http://schemas.openxmlformats.org/drawingml/2006/main">
              <a:ext uri="{FF2B5EF4-FFF2-40B4-BE49-F238E27FC236}">
                <a16:creationId xmlns:a16="http://schemas.microsoft.com/office/drawing/2014/main" id="{E9009F66-88CC-458E-A61C-3989AC79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76775"/>
            <a:ext cx="1219200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7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result-bar-5">
            <a:extLst xmlns:a="http://schemas.openxmlformats.org/drawingml/2006/main">
              <a:ext uri="{FF2B5EF4-FFF2-40B4-BE49-F238E27FC236}">
                <a16:creationId xmlns:a16="http://schemas.microsoft.com/office/drawing/2014/main" id="{8AE8718D-6BA9-4CA3-8CE3-AB1F9A66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76775"/>
            <a:ext cx="612892" cy="1333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A9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result-mean-5">
            <a:extLst xmlns:a="http://schemas.openxmlformats.org/drawingml/2006/main">
              <a:ext uri="{FF2B5EF4-FFF2-40B4-BE49-F238E27FC236}">
                <a16:creationId xmlns:a16="http://schemas.microsoft.com/office/drawing/2014/main" id="{FBEEDD2E-198F-4045-888E-BD515B00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6247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50.27</a:t>
            </a:r>
          </a:p>
        </p:txBody>
      </p:sp>
      <p:sp>
        <p:nvSpPr>
          <p:cNvPr id="40" name="result-days-5">
            <a:extLst xmlns:a="http://schemas.openxmlformats.org/drawingml/2006/main">
              <a:ext uri="{FF2B5EF4-FFF2-40B4-BE49-F238E27FC236}">
                <a16:creationId xmlns:a16="http://schemas.microsoft.com/office/drawing/2014/main" id="{B42BBAF7-8EC8-47B0-966E-27E20FD4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196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def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361/366 日</a:t>
            </a:r>
          </a:p>
        </p:txBody>
      </p:sp>
      <p:sp>
        <p:nvSpPr>
          <p:cNvPr id="41" name="result-validity-callout">
            <a:extLst xmlns:a="http://schemas.openxmlformats.org/drawingml/2006/main">
              <a:ext uri="{FF2B5EF4-FFF2-40B4-BE49-F238E27FC236}">
                <a16:creationId xmlns:a16="http://schemas.microsoft.com/office/drawing/2014/main" id="{BE4F72FB-0E3D-4253-A4D5-003A91A5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105400"/>
            <a:ext cx="451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13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13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13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13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13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13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13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13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13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13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13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5/5 满足年度有效性门槛，且均超过 35 年均限值</a:t>
            </a:r>
          </a:p>
        </p:txBody>
      </p:sp>
      <p:sp>
        <p:nvSpPr>
          <p:cNvPr id="42" name="result-execution-note">
            <a:extLst xmlns:a="http://schemas.openxmlformats.org/drawingml/2006/main">
              <a:ext uri="{FF2B5EF4-FFF2-40B4-BE49-F238E27FC236}">
                <a16:creationId xmlns:a16="http://schemas.microsoft.com/office/drawing/2014/main" id="{B501B828-6271-4B85-93A6-A58E96D4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4673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3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3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3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3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3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3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3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3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3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A9D7A"/>
                </a:solidFill>
                <a:latin typeface="PingFang SC"/>
                <a:ea typeface="PingFang SC"/>
                <a:cs typeface="PingFang SC"/>
              </a:rPr>
              <a:t>真实 API 用时 4.88 秒  ·  5 次模型工具调用</a:t>
            </a:r>
          </a:p>
        </p:txBody>
      </p:sp>
      <p:sp>
        <p:nvSpPr>
          <p:cNvPr id="43" name="result-screenshot-frame">
            <a:extLst xmlns:a="http://schemas.openxmlformats.org/drawingml/2006/main">
              <a:ext uri="{FF2B5EF4-FFF2-40B4-BE49-F238E27FC236}">
                <a16:creationId xmlns:a16="http://schemas.microsoft.com/office/drawing/2014/main" id="{C453DF5D-1E7A-4A1F-8117-115D64C7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43100"/>
            <a:ext cx="5410200" cy="4152900"/>
          </a:xfrm>
          <a:prstGeom xmlns:a="http://schemas.openxmlformats.org/drawingml/2006/main" prst="roundRect">
            <a:avLst>
              <a:gd name="adj" fmla="val 2752"/>
            </a:avLst>
          </a:prstGeom>
          <a:solidFill xmlns:a="http://schemas.openxmlformats.org/drawingml/2006/main">
            <a:srgbClr val="FFFEFA"/>
          </a:solidFill>
          <a:ln xmlns:a="http://schemas.openxmlformats.org/drawingml/2006/main" w="9525">
            <a:solidFill>
              <a:srgbClr val="B7C9BF"/>
            </a:solidFill>
            <a:prstDash val="solid"/>
          </a:ln>
        </p:spPr>
      </p:sp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E325A-4F2C-459C-9ABB-A403C997E6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a0bc043f3411e"/>
          <a:stretch xmlns:a="http://schemas.openxmlformats.org/drawingml/2006/main"/>
        </p:blipFill>
        <p:spPr>
          <a:xfrm xmlns:a="http://schemas.openxmlformats.org/drawingml/2006/main">
            <a:off x="6081453" y="2000250"/>
            <a:ext cx="5286895" cy="4038600"/>
          </a:xfrm>
          <a:prstGeom xmlns:a="http://schemas.openxmlformats.org/drawingml/2006/main" prst="roundRect">
            <a:avLst>
              <a:gd name="adj" fmla="val 1887"/>
            </a:avLst>
          </a:prstGeom>
        </p:spPr>
      </p:pic>
      <p:sp>
        <p:nvSpPr>
          <p:cNvPr id="45" name="result-source-note">
            <a:extLst xmlns:a="http://schemas.openxmlformats.org/drawingml/2006/main">
              <a:ext uri="{FF2B5EF4-FFF2-40B4-BE49-F238E27FC236}">
                <a16:creationId xmlns:a16="http://schemas.microsoft.com/office/drawing/2014/main" id="{2A556385-637C-49C6-A5A5-9864B935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38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38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38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38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38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38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38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38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38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38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38" b="0">
                <a:solidFill>
                  <a:srgbClr val="244E43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244E43"/>
                </a:solidFill>
                <a:latin typeface="PingFang SC"/>
                <a:ea typeface="PingFang SC"/>
                <a:cs typeface="PingFang SC"/>
              </a:rPr>
              <a:t>来源：中国环境监测总站城市小时数据 · Quotsoft 公开历史归档</a:t>
            </a:r>
          </a:p>
        </p:txBody>
      </p:sp>
      <p:sp>
        <p:nvSpPr>
          <p:cNvPr id="46" name="result-aqi-note">
            <a:extLst xmlns:a="http://schemas.openxmlformats.org/drawingml/2006/main">
              <a:ext uri="{FF2B5EF4-FFF2-40B4-BE49-F238E27FC236}">
                <a16:creationId xmlns:a16="http://schemas.microsoft.com/office/drawing/2014/main" id="{390EE73C-0A00-4932-B798-C991C9EF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00800"/>
            <a:ext cx="1064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38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238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238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238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238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238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238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238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238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238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238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AQI：按 HJ 633 由小时浓度派生，120,859 条有效；作为本地派生指标。</a:t>
            </a:r>
          </a:p>
        </p:txBody>
      </p:sp>
    </p:spTree>
    <p:extLst>
      <p:ext uri="{BB962C8B-B14F-4D97-AF65-F5344CB8AC3E}">
        <p14:creationId xmlns:p14="http://schemas.microsoft.com/office/powerpoint/2010/main" val="1068485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3D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4A7B6922-661F-4A60-8E16-0728777B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0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EFA"/>
                </a:solidFill>
                <a:latin typeface="PingFang SC"/>
                <a:ea typeface="PingFang SC"/>
                <a:cs typeface="PingFang SC"/>
              </a:rPr>
              <a:t>答辩评分维度与作品亮点</a:t>
            </a:r>
          </a:p>
        </p:txBody>
      </p:sp>
      <p:sp>
        <p:nvSpPr>
          <p:cNvPr id="2" name="slide-7-accent">
            <a:extLst xmlns:a="http://schemas.openxmlformats.org/drawingml/2006/main">
              <a:ext uri="{FF2B5EF4-FFF2-40B4-BE49-F238E27FC236}">
                <a16:creationId xmlns:a16="http://schemas.microsoft.com/office/drawing/2014/main" id="{613DFB35-485A-4A1C-854B-E482768B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ore-1-weight">
            <a:extLst xmlns:a="http://schemas.openxmlformats.org/drawingml/2006/main">
              <a:ext uri="{FF2B5EF4-FFF2-40B4-BE49-F238E27FC236}">
                <a16:creationId xmlns:a16="http://schemas.microsoft.com/office/drawing/2014/main" id="{CC9CDBD8-37C5-488B-9728-D480F6C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rPr>
              <a:t>20%</a:t>
            </a:r>
          </a:p>
        </p:txBody>
      </p:sp>
      <p:sp>
        <p:nvSpPr>
          <p:cNvPr id="4" name="score-1-name">
            <a:extLst xmlns:a="http://schemas.openxmlformats.org/drawingml/2006/main">
              <a:ext uri="{FF2B5EF4-FFF2-40B4-BE49-F238E27FC236}">
                <a16:creationId xmlns:a16="http://schemas.microsoft.com/office/drawing/2014/main" id="{B0F7FAE5-290C-4EA7-94BB-40B351B1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5049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rPr>
              <a:t>需求思考与完成度</a:t>
            </a:r>
          </a:p>
        </p:txBody>
      </p:sp>
      <p:sp>
        <p:nvSpPr>
          <p:cNvPr id="5" name="score-1-evidence">
            <a:extLst xmlns:a="http://schemas.openxmlformats.org/drawingml/2006/main">
              <a:ext uri="{FF2B5EF4-FFF2-40B4-BE49-F238E27FC236}">
                <a16:creationId xmlns:a16="http://schemas.microsoft.com/office/drawing/2014/main" id="{37EC142D-F51F-4E07-A291-358F8C47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04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rPr>
              <a:t>题目核心需求覆盖情况</a:t>
            </a:r>
          </a:p>
        </p:txBody>
      </p:sp>
      <p:sp>
        <p:nvSpPr>
          <p:cNvPr id="6" name="score-1-rule">
            <a:extLst xmlns:a="http://schemas.openxmlformats.org/drawingml/2006/main">
              <a:ext uri="{FF2B5EF4-FFF2-40B4-BE49-F238E27FC236}">
                <a16:creationId xmlns:a16="http://schemas.microsoft.com/office/drawing/2014/main" id="{B52D7EDB-69D7-44A9-96AF-A8AF9C1F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00250"/>
            <a:ext cx="9315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6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ore-2-weight">
            <a:extLst xmlns:a="http://schemas.openxmlformats.org/drawingml/2006/main">
              <a:ext uri="{FF2B5EF4-FFF2-40B4-BE49-F238E27FC236}">
                <a16:creationId xmlns:a16="http://schemas.microsoft.com/office/drawing/2014/main" id="{A56FFA84-7B80-4FA9-968D-A9CA3BE3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rPr>
              <a:t>20%</a:t>
            </a:r>
          </a:p>
        </p:txBody>
      </p:sp>
      <p:sp>
        <p:nvSpPr>
          <p:cNvPr id="8" name="score-2-name">
            <a:extLst xmlns:a="http://schemas.openxmlformats.org/drawingml/2006/main">
              <a:ext uri="{FF2B5EF4-FFF2-40B4-BE49-F238E27FC236}">
                <a16:creationId xmlns:a16="http://schemas.microsoft.com/office/drawing/2014/main" id="{8A4A57E2-0968-47A4-88A6-E1421B6E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257425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rPr>
              <a:t>Harness 过程与系统架构合理性</a:t>
            </a:r>
          </a:p>
        </p:txBody>
      </p:sp>
      <p:sp>
        <p:nvSpPr>
          <p:cNvPr id="9" name="score-2-evidence">
            <a:extLst xmlns:a="http://schemas.openxmlformats.org/drawingml/2006/main">
              <a:ext uri="{FF2B5EF4-FFF2-40B4-BE49-F238E27FC236}">
                <a16:creationId xmlns:a16="http://schemas.microsoft.com/office/drawing/2014/main" id="{2A63CABD-F2A1-43E5-96CA-1FCAC3DB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574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rPr>
              <a:t>模块边界、工具调用与集成关系</a:t>
            </a:r>
          </a:p>
        </p:txBody>
      </p:sp>
      <p:sp>
        <p:nvSpPr>
          <p:cNvPr id="10" name="score-2-rule">
            <a:extLst xmlns:a="http://schemas.openxmlformats.org/drawingml/2006/main">
              <a:ext uri="{FF2B5EF4-FFF2-40B4-BE49-F238E27FC236}">
                <a16:creationId xmlns:a16="http://schemas.microsoft.com/office/drawing/2014/main" id="{53E7AB82-138D-4A37-92E5-D5D323B1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52725"/>
            <a:ext cx="9315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6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core-3-weight">
            <a:extLst xmlns:a="http://schemas.openxmlformats.org/drawingml/2006/main">
              <a:ext uri="{FF2B5EF4-FFF2-40B4-BE49-F238E27FC236}">
                <a16:creationId xmlns:a16="http://schemas.microsoft.com/office/drawing/2014/main" id="{2569E1B4-E234-45CA-9B4E-E7BABA1C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rPr>
              <a:t>15%</a:t>
            </a:r>
          </a:p>
        </p:txBody>
      </p:sp>
      <p:sp>
        <p:nvSpPr>
          <p:cNvPr id="12" name="score-3-name">
            <a:extLst xmlns:a="http://schemas.openxmlformats.org/drawingml/2006/main">
              <a:ext uri="{FF2B5EF4-FFF2-40B4-BE49-F238E27FC236}">
                <a16:creationId xmlns:a16="http://schemas.microsoft.com/office/drawing/2014/main" id="{3480D885-090C-43E2-BBAB-D6106866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0990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rPr>
              <a:t>功能测试覆盖率</a:t>
            </a:r>
          </a:p>
        </p:txBody>
      </p:sp>
      <p:sp>
        <p:nvSpPr>
          <p:cNvPr id="13" name="score-3-evidence">
            <a:extLst xmlns:a="http://schemas.openxmlformats.org/drawingml/2006/main">
              <a:ext uri="{FF2B5EF4-FFF2-40B4-BE49-F238E27FC236}">
                <a16:creationId xmlns:a16="http://schemas.microsoft.com/office/drawing/2014/main" id="{32306738-6230-4832-953B-2E058C54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9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rPr>
              <a:t>核心功能用例与运行证据</a:t>
            </a:r>
          </a:p>
        </p:txBody>
      </p:sp>
      <p:sp>
        <p:nvSpPr>
          <p:cNvPr id="14" name="score-3-rule">
            <a:extLst xmlns:a="http://schemas.openxmlformats.org/drawingml/2006/main">
              <a:ext uri="{FF2B5EF4-FFF2-40B4-BE49-F238E27FC236}">
                <a16:creationId xmlns:a16="http://schemas.microsoft.com/office/drawing/2014/main" id="{899F9714-16B1-4830-918C-C148E1D0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05200"/>
            <a:ext cx="9315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6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core-4-weight">
            <a:extLst xmlns:a="http://schemas.openxmlformats.org/drawingml/2006/main">
              <a:ext uri="{FF2B5EF4-FFF2-40B4-BE49-F238E27FC236}">
                <a16:creationId xmlns:a16="http://schemas.microsoft.com/office/drawing/2014/main" id="{0F86A446-2FB4-41C5-BCE8-3BEA2881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rPr>
              <a:t>15%</a:t>
            </a:r>
          </a:p>
        </p:txBody>
      </p:sp>
      <p:sp>
        <p:nvSpPr>
          <p:cNvPr id="16" name="score-4-name">
            <a:extLst xmlns:a="http://schemas.openxmlformats.org/drawingml/2006/main">
              <a:ext uri="{FF2B5EF4-FFF2-40B4-BE49-F238E27FC236}">
                <a16:creationId xmlns:a16="http://schemas.microsoft.com/office/drawing/2014/main" id="{A95781AF-14E3-4B5D-984F-9DF3A1A7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762375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rPr>
              <a:t>演讲材料质量</a:t>
            </a:r>
          </a:p>
        </p:txBody>
      </p:sp>
      <p:sp>
        <p:nvSpPr>
          <p:cNvPr id="17" name="score-4-evidence">
            <a:extLst xmlns:a="http://schemas.openxmlformats.org/drawingml/2006/main">
              <a:ext uri="{FF2B5EF4-FFF2-40B4-BE49-F238E27FC236}">
                <a16:creationId xmlns:a16="http://schemas.microsoft.com/office/drawing/2014/main" id="{306EF9D7-0C93-4851-B051-9B0E38C4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6237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rPr>
              <a:t>表达逻辑、可视化与时长控制</a:t>
            </a:r>
          </a:p>
        </p:txBody>
      </p:sp>
      <p:sp>
        <p:nvSpPr>
          <p:cNvPr id="18" name="score-4-rule">
            <a:extLst xmlns:a="http://schemas.openxmlformats.org/drawingml/2006/main">
              <a:ext uri="{FF2B5EF4-FFF2-40B4-BE49-F238E27FC236}">
                <a16:creationId xmlns:a16="http://schemas.microsoft.com/office/drawing/2014/main" id="{AF762E26-E311-4F57-A5CD-998E3699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57675"/>
            <a:ext cx="9315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6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core-5-weight">
            <a:extLst xmlns:a="http://schemas.openxmlformats.org/drawingml/2006/main">
              <a:ext uri="{FF2B5EF4-FFF2-40B4-BE49-F238E27FC236}">
                <a16:creationId xmlns:a16="http://schemas.microsoft.com/office/drawing/2014/main" id="{AE14547C-AD9C-4513-B66C-1A0FFFEC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rPr>
              <a:t>10%</a:t>
            </a:r>
          </a:p>
        </p:txBody>
      </p:sp>
      <p:sp>
        <p:nvSpPr>
          <p:cNvPr id="20" name="score-5-name">
            <a:extLst xmlns:a="http://schemas.openxmlformats.org/drawingml/2006/main">
              <a:ext uri="{FF2B5EF4-FFF2-40B4-BE49-F238E27FC236}">
                <a16:creationId xmlns:a16="http://schemas.microsoft.com/office/drawing/2014/main" id="{1473FF5E-CD99-4F2D-92D0-1A6DF60D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148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rPr>
              <a:t>人员分工合理性</a:t>
            </a:r>
          </a:p>
        </p:txBody>
      </p:sp>
      <p:sp>
        <p:nvSpPr>
          <p:cNvPr id="21" name="score-5-evidence">
            <a:extLst xmlns:a="http://schemas.openxmlformats.org/drawingml/2006/main">
              <a:ext uri="{FF2B5EF4-FFF2-40B4-BE49-F238E27FC236}">
                <a16:creationId xmlns:a16="http://schemas.microsoft.com/office/drawing/2014/main" id="{F0FF615A-30C0-4441-8CED-42B5A55E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14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rPr>
              <a:t>角色分配与协作是否合理</a:t>
            </a:r>
          </a:p>
        </p:txBody>
      </p:sp>
      <p:sp>
        <p:nvSpPr>
          <p:cNvPr id="22" name="score-5-rule">
            <a:extLst xmlns:a="http://schemas.openxmlformats.org/drawingml/2006/main">
              <a:ext uri="{FF2B5EF4-FFF2-40B4-BE49-F238E27FC236}">
                <a16:creationId xmlns:a16="http://schemas.microsoft.com/office/drawing/2014/main" id="{421EEDD2-5D32-4F01-9BCB-1BD58456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10150"/>
            <a:ext cx="93154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6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core-6-weight">
            <a:extLst xmlns:a="http://schemas.openxmlformats.org/drawingml/2006/main">
              <a:ext uri="{FF2B5EF4-FFF2-40B4-BE49-F238E27FC236}">
                <a16:creationId xmlns:a16="http://schemas.microsoft.com/office/drawing/2014/main" id="{CC71A957-F52D-476B-B8B4-FB62AAAF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BFE5D5"/>
                </a:solidFill>
                <a:latin typeface="PingFang SC"/>
                <a:ea typeface="PingFang SC"/>
                <a:cs typeface="PingFang SC"/>
              </a:rPr>
              <a:t>20%</a:t>
            </a:r>
          </a:p>
        </p:txBody>
      </p:sp>
      <p:sp>
        <p:nvSpPr>
          <p:cNvPr id="24" name="score-6-name">
            <a:extLst xmlns:a="http://schemas.openxmlformats.org/drawingml/2006/main">
              <a:ext uri="{FF2B5EF4-FFF2-40B4-BE49-F238E27FC236}">
                <a16:creationId xmlns:a16="http://schemas.microsoft.com/office/drawing/2014/main" id="{099EC08F-E8BE-4F93-9CEF-85AA385C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67325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EFA"/>
                </a:solidFill>
                <a:latin typeface="PingFang SC"/>
                <a:ea typeface="PingFang SC"/>
                <a:cs typeface="PingFang SC"/>
              </a:rPr>
              <a:t>系统亮点</a:t>
            </a:r>
          </a:p>
        </p:txBody>
      </p:sp>
      <p:sp>
        <p:nvSpPr>
          <p:cNvPr id="25" name="score-6-evidence">
            <a:extLst xmlns:a="http://schemas.openxmlformats.org/drawingml/2006/main">
              <a:ext uri="{FF2B5EF4-FFF2-40B4-BE49-F238E27FC236}">
                <a16:creationId xmlns:a16="http://schemas.microsoft.com/office/drawing/2014/main" id="{8B3EDF9E-ADB1-47EF-B564-7F438659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673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FE5D5"/>
                </a:solidFill>
                <a:latin typeface="PingFang SC"/>
                <a:ea typeface="PingFang SC"/>
                <a:cs typeface="PingFang SC"/>
              </a:rPr>
              <a:t>原生 tool_calls、多轮上下文、本地统计校验</a:t>
            </a:r>
          </a:p>
        </p:txBody>
      </p:sp>
      <p:sp>
        <p:nvSpPr>
          <p:cNvPr id="26" name="innovation-takeaway">
            <a:extLst xmlns:a="http://schemas.openxmlformats.org/drawingml/2006/main">
              <a:ext uri="{FF2B5EF4-FFF2-40B4-BE49-F238E27FC236}">
                <a16:creationId xmlns:a16="http://schemas.microsoft.com/office/drawing/2014/main" id="{F9413C95-938C-43B5-8EBF-1024CFBB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EF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EFA"/>
                </a:solidFill>
                <a:latin typeface="PingFang SC"/>
                <a:ea typeface="PingFang SC"/>
                <a:cs typeface="PingFang SC"/>
              </a:rPr>
              <a:t>模型原生 tool_calls 编排分析，真实工具过程实时可见，统计与校验由本地完成。</a:t>
            </a:r>
          </a:p>
        </p:txBody>
      </p:sp>
    </p:spTree>
    <p:extLst>
      <p:ext uri="{BB962C8B-B14F-4D97-AF65-F5344CB8AC3E}">
        <p14:creationId xmlns:p14="http://schemas.microsoft.com/office/powerpoint/2010/main" val="2011522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532CF282-5746-4F3C-9EC2-1C90FAA0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0706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现场演示与作品亮点（5+1 分钟）</a:t>
            </a:r>
          </a:p>
        </p:txBody>
      </p:sp>
      <p:sp>
        <p:nvSpPr>
          <p:cNvPr id="2" name="slide-8-accent">
            <a:extLst xmlns:a="http://schemas.openxmlformats.org/drawingml/2006/main">
              <a:ext uri="{FF2B5EF4-FFF2-40B4-BE49-F238E27FC236}">
                <a16:creationId xmlns:a16="http://schemas.microsoft.com/office/drawing/2014/main" id="{07054F15-2EFC-4CEA-AB06-F2C6966F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mo-1-time">
            <a:extLst xmlns:a="http://schemas.openxmlformats.org/drawingml/2006/main">
              <a:ext uri="{FF2B5EF4-FFF2-40B4-BE49-F238E27FC236}">
                <a16:creationId xmlns:a16="http://schemas.microsoft.com/office/drawing/2014/main" id="{28F98A24-7FFC-45ED-B087-20C873DD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rPr>
              <a:t>00:00—00:40</a:t>
            </a:r>
          </a:p>
        </p:txBody>
      </p:sp>
      <p:sp>
        <p:nvSpPr>
          <p:cNvPr id="4" name="demo-1-name">
            <a:extLst xmlns:a="http://schemas.openxmlformats.org/drawingml/2006/main">
              <a:ext uri="{FF2B5EF4-FFF2-40B4-BE49-F238E27FC236}">
                <a16:creationId xmlns:a16="http://schemas.microsoft.com/office/drawing/2014/main" id="{F0601D72-1796-4712-8394-A0EFBDCE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4668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需求与数据</a:t>
            </a:r>
          </a:p>
        </p:txBody>
      </p:sp>
      <p:sp>
        <p:nvSpPr>
          <p:cNvPr id="5" name="demo-1-detail">
            <a:extLst xmlns:a="http://schemas.openxmlformats.org/drawingml/2006/main">
              <a:ext uri="{FF2B5EF4-FFF2-40B4-BE49-F238E27FC236}">
                <a16:creationId xmlns:a16="http://schemas.microsoft.com/office/drawing/2014/main" id="{5AC21567-137F-474B-9216-8B393BF8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668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任务目标、覆盖范围和清洗口径</a:t>
            </a:r>
          </a:p>
        </p:txBody>
      </p:sp>
      <p:sp>
        <p:nvSpPr>
          <p:cNvPr id="6" name="demo-1-rule">
            <a:extLst xmlns:a="http://schemas.openxmlformats.org/drawingml/2006/main">
              <a:ext uri="{FF2B5EF4-FFF2-40B4-BE49-F238E27FC236}">
                <a16:creationId xmlns:a16="http://schemas.microsoft.com/office/drawing/2014/main" id="{995F2DD1-F606-4C32-9321-71EB0CE3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14525"/>
            <a:ext cx="8001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mo-2-time">
            <a:extLst xmlns:a="http://schemas.openxmlformats.org/drawingml/2006/main">
              <a:ext uri="{FF2B5EF4-FFF2-40B4-BE49-F238E27FC236}">
                <a16:creationId xmlns:a16="http://schemas.microsoft.com/office/drawing/2014/main" id="{D5FB1148-BBB0-40FC-B54B-01E6F322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669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rPr>
              <a:t>00:40—01:20</a:t>
            </a:r>
          </a:p>
        </p:txBody>
      </p:sp>
      <p:sp>
        <p:nvSpPr>
          <p:cNvPr id="8" name="demo-2-name">
            <a:extLst xmlns:a="http://schemas.openxmlformats.org/drawingml/2006/main">
              <a:ext uri="{FF2B5EF4-FFF2-40B4-BE49-F238E27FC236}">
                <a16:creationId xmlns:a16="http://schemas.microsoft.com/office/drawing/2014/main" id="{67B803AF-B756-47B7-964F-AC7D5C80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6692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系统架构</a:t>
            </a:r>
          </a:p>
        </p:txBody>
      </p:sp>
      <p:sp>
        <p:nvSpPr>
          <p:cNvPr id="9" name="demo-2-detail">
            <a:extLst xmlns:a="http://schemas.openxmlformats.org/drawingml/2006/main">
              <a:ext uri="{FF2B5EF4-FFF2-40B4-BE49-F238E27FC236}">
                <a16:creationId xmlns:a16="http://schemas.microsoft.com/office/drawing/2014/main" id="{3FFA0892-6157-419A-9761-54EFBC63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669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DeepSeek调度与本地统计工具的关系</a:t>
            </a:r>
          </a:p>
        </p:txBody>
      </p:sp>
      <p:sp>
        <p:nvSpPr>
          <p:cNvPr id="10" name="demo-2-rule">
            <a:extLst xmlns:a="http://schemas.openxmlformats.org/drawingml/2006/main">
              <a:ext uri="{FF2B5EF4-FFF2-40B4-BE49-F238E27FC236}">
                <a16:creationId xmlns:a16="http://schemas.microsoft.com/office/drawing/2014/main" id="{CDEAD9DF-BF87-49FE-B071-56201B1A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14600"/>
            <a:ext cx="8001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3-time">
            <a:extLst xmlns:a="http://schemas.openxmlformats.org/drawingml/2006/main">
              <a:ext uri="{FF2B5EF4-FFF2-40B4-BE49-F238E27FC236}">
                <a16:creationId xmlns:a16="http://schemas.microsoft.com/office/drawing/2014/main" id="{88E32587-CD7C-46C1-8157-F42ED76D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rPr>
              <a:t>01:20—02:20</a:t>
            </a:r>
          </a:p>
        </p:txBody>
      </p:sp>
      <p:sp>
        <p:nvSpPr>
          <p:cNvPr id="12" name="demo-3-name">
            <a:extLst xmlns:a="http://schemas.openxmlformats.org/drawingml/2006/main">
              <a:ext uri="{FF2B5EF4-FFF2-40B4-BE49-F238E27FC236}">
                <a16:creationId xmlns:a16="http://schemas.microsoft.com/office/drawing/2014/main" id="{7A16FEEF-8E77-4AAC-A592-54EFC1EB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670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提交统计问题</a:t>
            </a:r>
          </a:p>
        </p:txBody>
      </p:sp>
      <p:sp>
        <p:nvSpPr>
          <p:cNvPr id="13" name="demo-3-detail">
            <a:extLst xmlns:a="http://schemas.openxmlformats.org/drawingml/2006/main">
              <a:ext uri="{FF2B5EF4-FFF2-40B4-BE49-F238E27FC236}">
                <a16:creationId xmlns:a16="http://schemas.microsoft.com/office/drawing/2014/main" id="{156F3FFC-5FE6-47F9-BB73-3510596A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670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展示 DeepSeek 原生工具调用与本地计算</a:t>
            </a:r>
          </a:p>
        </p:txBody>
      </p:sp>
      <p:sp>
        <p:nvSpPr>
          <p:cNvPr id="14" name="demo-3-rule">
            <a:extLst xmlns:a="http://schemas.openxmlformats.org/drawingml/2006/main">
              <a:ext uri="{FF2B5EF4-FFF2-40B4-BE49-F238E27FC236}">
                <a16:creationId xmlns:a16="http://schemas.microsoft.com/office/drawing/2014/main" id="{053BFF21-85ED-4742-B1EA-96F81D81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114675"/>
            <a:ext cx="8001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emo-4-time">
            <a:extLst xmlns:a="http://schemas.openxmlformats.org/drawingml/2006/main">
              <a:ext uri="{FF2B5EF4-FFF2-40B4-BE49-F238E27FC236}">
                <a16:creationId xmlns:a16="http://schemas.microsoft.com/office/drawing/2014/main" id="{72C52111-33EC-476C-99B9-A85FEBFB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670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rPr>
              <a:t>02:20—03:20</a:t>
            </a:r>
          </a:p>
        </p:txBody>
      </p:sp>
      <p:sp>
        <p:nvSpPr>
          <p:cNvPr id="16" name="demo-4-name">
            <a:extLst xmlns:a="http://schemas.openxmlformats.org/drawingml/2006/main">
              <a:ext uri="{FF2B5EF4-FFF2-40B4-BE49-F238E27FC236}">
                <a16:creationId xmlns:a16="http://schemas.microsoft.com/office/drawing/2014/main" id="{56E5D625-E4A5-4B33-A7F2-6B99F57F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6707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连续追问</a:t>
            </a:r>
          </a:p>
        </p:txBody>
      </p:sp>
      <p:sp>
        <p:nvSpPr>
          <p:cNvPr id="17" name="demo-4-detail">
            <a:extLst xmlns:a="http://schemas.openxmlformats.org/drawingml/2006/main">
              <a:ext uri="{FF2B5EF4-FFF2-40B4-BE49-F238E27FC236}">
                <a16:creationId xmlns:a16="http://schemas.microsoft.com/office/drawing/2014/main" id="{6CA07863-9192-42B6-BD87-36273C6A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6707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查看会话上下文和多结果页签</a:t>
            </a:r>
          </a:p>
        </p:txBody>
      </p:sp>
      <p:sp>
        <p:nvSpPr>
          <p:cNvPr id="18" name="demo-4-rule">
            <a:extLst xmlns:a="http://schemas.openxmlformats.org/drawingml/2006/main">
              <a:ext uri="{FF2B5EF4-FFF2-40B4-BE49-F238E27FC236}">
                <a16:creationId xmlns:a16="http://schemas.microsoft.com/office/drawing/2014/main" id="{07B9CECD-757C-4DA9-A8D3-4D8FD2DE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14750"/>
            <a:ext cx="8001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emo-5-time">
            <a:extLst xmlns:a="http://schemas.openxmlformats.org/drawingml/2006/main">
              <a:ext uri="{FF2B5EF4-FFF2-40B4-BE49-F238E27FC236}">
                <a16:creationId xmlns:a16="http://schemas.microsoft.com/office/drawing/2014/main" id="{89E5E516-AFD6-41DC-8A13-DFFE1DA1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rPr>
              <a:t>03:20—04:20</a:t>
            </a:r>
          </a:p>
        </p:txBody>
      </p:sp>
      <p:sp>
        <p:nvSpPr>
          <p:cNvPr id="20" name="demo-5-name">
            <a:extLst xmlns:a="http://schemas.openxmlformats.org/drawingml/2006/main">
              <a:ext uri="{FF2B5EF4-FFF2-40B4-BE49-F238E27FC236}">
                <a16:creationId xmlns:a16="http://schemas.microsoft.com/office/drawing/2014/main" id="{D9DEC6AC-A8D6-48E8-A239-E221A0EB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867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测试与结果</a:t>
            </a:r>
          </a:p>
        </p:txBody>
      </p:sp>
      <p:sp>
        <p:nvSpPr>
          <p:cNvPr id="21" name="demo-5-detail">
            <a:extLst xmlns:a="http://schemas.openxmlformats.org/drawingml/2006/main">
              <a:ext uri="{FF2B5EF4-FFF2-40B4-BE49-F238E27FC236}">
                <a16:creationId xmlns:a16="http://schemas.microsoft.com/office/drawing/2014/main" id="{FB2F9816-A4B5-4FF6-A482-6F5C14C4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671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核心测试证据、统计校验与图表</a:t>
            </a:r>
          </a:p>
        </p:txBody>
      </p:sp>
      <p:sp>
        <p:nvSpPr>
          <p:cNvPr id="22" name="demo-5-rule">
            <a:extLst xmlns:a="http://schemas.openxmlformats.org/drawingml/2006/main">
              <a:ext uri="{FF2B5EF4-FFF2-40B4-BE49-F238E27FC236}">
                <a16:creationId xmlns:a16="http://schemas.microsoft.com/office/drawing/2014/main" id="{0AC99ACC-0401-436E-8E3F-E0141451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314825"/>
            <a:ext cx="8001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emo-6-time">
            <a:extLst xmlns:a="http://schemas.openxmlformats.org/drawingml/2006/main">
              <a:ext uri="{FF2B5EF4-FFF2-40B4-BE49-F238E27FC236}">
                <a16:creationId xmlns:a16="http://schemas.microsoft.com/office/drawing/2014/main" id="{C8DEC16E-720F-418B-8DC3-1007E766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rPr>
              <a:t>04:20—05:00</a:t>
            </a:r>
          </a:p>
        </p:txBody>
      </p:sp>
      <p:sp>
        <p:nvSpPr>
          <p:cNvPr id="24" name="demo-6-name">
            <a:extLst xmlns:a="http://schemas.openxmlformats.org/drawingml/2006/main">
              <a:ext uri="{FF2B5EF4-FFF2-40B4-BE49-F238E27FC236}">
                <a16:creationId xmlns:a16="http://schemas.microsoft.com/office/drawing/2014/main" id="{1981E9EC-6126-4551-AC1A-1440A53C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67225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总结作品亮点</a:t>
            </a:r>
          </a:p>
        </p:txBody>
      </p:sp>
      <p:sp>
        <p:nvSpPr>
          <p:cNvPr id="25" name="demo-6-detail">
            <a:extLst xmlns:a="http://schemas.openxmlformats.org/drawingml/2006/main">
              <a:ext uri="{FF2B5EF4-FFF2-40B4-BE49-F238E27FC236}">
                <a16:creationId xmlns:a16="http://schemas.microsoft.com/office/drawing/2014/main" id="{6BFB9920-DB09-4CB4-8394-B59763E0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67225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模型调度解释；本地工具计算核验</a:t>
            </a:r>
          </a:p>
        </p:txBody>
      </p:sp>
      <p:sp>
        <p:nvSpPr>
          <p:cNvPr id="26" name="demo-6-rule">
            <a:extLst xmlns:a="http://schemas.openxmlformats.org/drawingml/2006/main">
              <a:ext uri="{FF2B5EF4-FFF2-40B4-BE49-F238E27FC236}">
                <a16:creationId xmlns:a16="http://schemas.microsoft.com/office/drawing/2014/main" id="{C30B4106-8F7B-467F-9F58-44E6461A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14900"/>
            <a:ext cx="8001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9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emo-7-time">
            <a:extLst xmlns:a="http://schemas.openxmlformats.org/drawingml/2006/main">
              <a:ext uri="{FF2B5EF4-FFF2-40B4-BE49-F238E27FC236}">
                <a16:creationId xmlns:a16="http://schemas.microsoft.com/office/drawing/2014/main" id="{6ACF9D71-782B-47FD-938E-3E1B875E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A9D7A"/>
                </a:solidFill>
                <a:latin typeface="PingFang SC"/>
                <a:ea typeface="PingFang SC"/>
                <a:cs typeface="PingFang SC"/>
              </a:rPr>
              <a:t>05:00—06:00</a:t>
            </a:r>
          </a:p>
        </p:txBody>
      </p:sp>
      <p:sp>
        <p:nvSpPr>
          <p:cNvPr id="28" name="demo-7-name">
            <a:extLst xmlns:a="http://schemas.openxmlformats.org/drawingml/2006/main">
              <a:ext uri="{FF2B5EF4-FFF2-40B4-BE49-F238E27FC236}">
                <a16:creationId xmlns:a16="http://schemas.microsoft.com/office/drawing/2014/main" id="{B48D27B0-72FB-4138-8AC0-E120420A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6730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3D34"/>
                </a:solidFill>
                <a:latin typeface="PingFang SC"/>
                <a:ea typeface="PingFang SC"/>
                <a:cs typeface="PingFang SC"/>
              </a:rPr>
              <a:t>评委质询</a:t>
            </a:r>
          </a:p>
        </p:txBody>
      </p:sp>
      <p:sp>
        <p:nvSpPr>
          <p:cNvPr id="29" name="demo-7-detail">
            <a:extLst xmlns:a="http://schemas.openxmlformats.org/drawingml/2006/main">
              <a:ext uri="{FF2B5EF4-FFF2-40B4-BE49-F238E27FC236}">
                <a16:creationId xmlns:a16="http://schemas.microsoft.com/office/drawing/2014/main" id="{257563C1-1AE1-4146-8BFC-AB4D3D03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6730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60766E"/>
                </a:solidFill>
                <a:latin typeface="PingFang SC"/>
                <a:ea typeface="PingFang SC"/>
                <a:cs typeface="PingFang SC"/>
              </a:rPr>
              <a:t>回答实现、测试和结果口径问题</a:t>
            </a:r>
          </a:p>
        </p:txBody>
      </p:sp>
    </p:spTree>
    <p:extLst>
      <p:ext uri="{BB962C8B-B14F-4D97-AF65-F5344CB8AC3E}">
        <p14:creationId xmlns:p14="http://schemas.microsoft.com/office/powerpoint/2010/main" val="20394698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2026-10-19T00:46:29.3180000Z</dcterms:created>
  <dcterms:modified xsi:type="dcterms:W3CDTF">2026-10-19T00:46:29.3180000Z</dcterms:modified>
</coreProperties>
</file>